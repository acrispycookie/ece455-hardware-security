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oboto Mono SemiBold"/>
      <p:regular r:id="rId20"/>
      <p:bold r:id="rId21"/>
      <p:italic r:id="rId22"/>
      <p:boldItalic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Zen Antique"/>
      <p:regular r:id="rId28"/>
    </p:embeddedFon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CCF381-3F3A-443E-97EE-4557EEC24869}">
  <a:tblStyle styleId="{F7CCF381-3F3A-443E-97EE-4557EEC248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SemiBold-regular.fntdata"/><Relationship Id="rId22" Type="http://schemas.openxmlformats.org/officeDocument/2006/relationships/font" Target="fonts/RobotoMonoSemiBold-italic.fntdata"/><Relationship Id="rId21" Type="http://schemas.openxmlformats.org/officeDocument/2006/relationships/font" Target="fonts/RobotoMonoSemiBold-bold.fntdata"/><Relationship Id="rId24" Type="http://schemas.openxmlformats.org/officeDocument/2006/relationships/font" Target="fonts/Roboto-regular.fntdata"/><Relationship Id="rId23" Type="http://schemas.openxmlformats.org/officeDocument/2006/relationships/font" Target="fonts/RobotoMono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ZenAntique-regular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b67a3a8ce5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b67a3a8ce5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b67d6dc17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b67d6dc17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b67d6dc177_0_2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b67d6dc177_0_2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b67d6dc177_0_4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b67d6dc177_0_4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b67a3a8ce5_0_7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b67a3a8ce5_0_7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b67a3a8ce5_0_7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3b67a3a8ce5_0_7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b67d6dc177_0_7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3b67d6dc177_0_7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b67a3a8ce5_0_2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3b67a3a8ce5_0_2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b67a3a8ce5_0_7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3b67a3a8ce5_0_7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b67a3a8ce5_0_5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3b67a3a8ce5_0_5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b6855e5f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3b6855e5f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b67d6dc177_0_7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3b67d6dc177_0_7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b67a3a8ce5_0_50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3b67a3a8ce5_0_50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Διαφάνεια τίτλου 1">
  <p:cSld name="TITLE_1"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ctrTitle"/>
          </p:nvPr>
        </p:nvSpPr>
        <p:spPr>
          <a:xfrm>
            <a:off x="940025" y="1078288"/>
            <a:ext cx="6815700" cy="238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940025" y="3669213"/>
            <a:ext cx="6815700" cy="396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53" name="Google Shape;53;p13"/>
          <p:cNvGrpSpPr/>
          <p:nvPr/>
        </p:nvGrpSpPr>
        <p:grpSpPr>
          <a:xfrm>
            <a:off x="1790692" y="4254685"/>
            <a:ext cx="2638315" cy="4402295"/>
            <a:chOff x="238125" y="1025750"/>
            <a:chExt cx="844450" cy="1409050"/>
          </a:xfrm>
        </p:grpSpPr>
        <p:sp>
          <p:nvSpPr>
            <p:cNvPr id="54" name="Google Shape;54;p13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h="46517" w="2161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fill="none" h="46517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h="36790" w="218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fill="none" h="36790" w="218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h="53866" w="3051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fill="none" h="53866" w="3051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h="54243" w="2161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fill="none" h="54243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h="56362" w="218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fill="none" h="56362" w="218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h="16504" w="337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fill="none" h="16504" w="337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h="40256" w="218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fill="none" h="40256" w="218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h="29876" w="4795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fill="none" h="29876" w="4795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h="18306" w="2239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fill="none" h="18306" w="2239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h="39603" w="4815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fill="none" h="39603" w="4815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h="44496" w="218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fill="none" h="44496" w="218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h="46616" w="218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fill="none" h="46616" w="218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h="26231" w="338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fill="none" h="26231" w="338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h="36988" w="216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fill="none" h="36988" w="216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h="46239" w="2161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fill="none" h="46239" w="2161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h="24388" w="338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fill="none" h="24388" w="338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h="28033" w="224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fill="none" h="28033" w="224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h="21397" w="1982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fill="none" h="21397" w="1982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h="21199" w="337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fill="none" h="21199" w="337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h="44040" w="3131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fill="none" h="44040" w="3131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h="53767" w="3111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fill="none" h="53767" w="3111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h="31124" w="1982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fill="none" h="31124" w="1982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h="54461" w="7509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fill="none" h="54461" w="7509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h="55966" w="5171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fill="none" h="55966" w="5171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h="46794" w="5211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fill="none" h="46794" w="5211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" name="Google Shape;104;p13"/>
          <p:cNvGrpSpPr/>
          <p:nvPr/>
        </p:nvGrpSpPr>
        <p:grpSpPr>
          <a:xfrm>
            <a:off x="4571398" y="4254685"/>
            <a:ext cx="2638315" cy="4402295"/>
            <a:chOff x="238125" y="1025750"/>
            <a:chExt cx="844450" cy="1409050"/>
          </a:xfrm>
        </p:grpSpPr>
        <p:sp>
          <p:nvSpPr>
            <p:cNvPr id="105" name="Google Shape;105;p13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h="46517" w="2161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fill="none" h="46517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h="36790" w="218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fill="none" h="36790" w="218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h="53866" w="3051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fill="none" h="53866" w="3051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h="54243" w="2161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fill="none" h="54243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h="56362" w="218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fill="none" h="56362" w="218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h="16504" w="337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fill="none" h="16504" w="337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h="40256" w="218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fill="none" h="40256" w="218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h="29876" w="4795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fill="none" h="29876" w="4795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h="18306" w="2239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fill="none" h="18306" w="2239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h="39603" w="4815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fill="none" h="39603" w="4815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h="44496" w="218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fill="none" h="44496" w="218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h="46616" w="218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fill="none" h="46616" w="218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h="26231" w="338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fill="none" h="26231" w="338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h="36988" w="216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fill="none" h="36988" w="216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h="46239" w="2161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fill="none" h="46239" w="2161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h="24388" w="338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fill="none" h="24388" w="338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h="28033" w="224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fill="none" h="28033" w="224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h="21397" w="1982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fill="none" h="21397" w="1982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h="21199" w="337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fill="none" h="21199" w="337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h="44040" w="3131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fill="none" h="44040" w="3131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h="53767" w="3111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fill="none" h="53767" w="3111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h="31124" w="1982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fill="none" h="31124" w="1982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h="54461" w="7509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fill="none" h="54461" w="7509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h="55966" w="5171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fill="none" h="55966" w="5171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h="46794" w="5211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fill="none" h="46794" w="5211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" name="Google Shape;155;p13"/>
          <p:cNvGrpSpPr/>
          <p:nvPr/>
        </p:nvGrpSpPr>
        <p:grpSpPr>
          <a:xfrm>
            <a:off x="-990008" y="4254685"/>
            <a:ext cx="2638315" cy="4402295"/>
            <a:chOff x="238125" y="1025750"/>
            <a:chExt cx="844450" cy="1409050"/>
          </a:xfrm>
        </p:grpSpPr>
        <p:sp>
          <p:nvSpPr>
            <p:cNvPr id="156" name="Google Shape;156;p13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h="46517" w="2161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fill="none" h="46517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h="36790" w="218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fill="none" h="36790" w="218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h="53866" w="3051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fill="none" h="53866" w="3051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h="54243" w="2161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fill="none" h="54243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3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h="56362" w="218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3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fill="none" h="56362" w="218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3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h="16504" w="337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3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fill="none" h="16504" w="337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3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h="40256" w="218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3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fill="none" h="40256" w="218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3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h="29876" w="4795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3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fill="none" h="29876" w="4795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3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h="18306" w="2239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3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fill="none" h="18306" w="2239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3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h="39603" w="4815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3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fill="none" h="39603" w="4815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h="44496" w="218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3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fill="none" h="44496" w="218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3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h="46616" w="218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3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fill="none" h="46616" w="218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h="26231" w="338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fill="none" h="26231" w="338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h="36988" w="216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3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fill="none" h="36988" w="216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3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h="46239" w="2161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fill="none" h="46239" w="2161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h="24388" w="338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fill="none" h="24388" w="338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3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h="28033" w="224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3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fill="none" h="28033" w="224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3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h="21397" w="1982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3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fill="none" h="21397" w="1982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3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h="21199" w="337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fill="none" h="21199" w="337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h="44040" w="3131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fill="none" h="44040" w="3131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h="53767" w="3111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fill="none" h="53767" w="3111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h="31124" w="1982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fill="none" h="31124" w="1982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h="54461" w="7509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fill="none" h="54461" w="7509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h="55966" w="5171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fill="none" h="55966" w="5171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h="46794" w="5211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fill="none" h="46794" w="5211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" name="Google Shape;206;p13"/>
          <p:cNvGrpSpPr/>
          <p:nvPr/>
        </p:nvGrpSpPr>
        <p:grpSpPr>
          <a:xfrm flipH="1">
            <a:off x="7345193" y="3459384"/>
            <a:ext cx="2638315" cy="4402295"/>
            <a:chOff x="238125" y="1025750"/>
            <a:chExt cx="844450" cy="1409050"/>
          </a:xfrm>
        </p:grpSpPr>
        <p:sp>
          <p:nvSpPr>
            <p:cNvPr id="207" name="Google Shape;207;p13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h="46517" w="2161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fill="none" h="46517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h="36790" w="218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fill="none" h="36790" w="218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h="53866" w="3051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fill="none" h="53866" w="3051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h="54243" w="2161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fill="none" h="54243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h="56362" w="218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fill="none" h="56362" w="218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h="16504" w="337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3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fill="none" h="16504" w="337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3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h="40256" w="218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3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fill="none" h="40256" w="218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h="29876" w="4795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fill="none" h="29876" w="4795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h="18306" w="2239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fill="none" h="18306" w="2239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h="39603" w="4815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3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fill="none" h="39603" w="4815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3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h="44496" w="218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3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fill="none" h="44496" w="218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3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h="46616" w="218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3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fill="none" h="46616" w="218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3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h="26231" w="338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3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fill="none" h="26231" w="338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3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h="36988" w="216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3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fill="none" h="36988" w="216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3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h="46239" w="2161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fill="none" h="46239" w="2161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3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h="24388" w="338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3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fill="none" h="24388" w="338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h="28033" w="224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3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fill="none" h="28033" w="224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3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h="21397" w="1982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3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fill="none" h="21397" w="1982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3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h="21199" w="337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3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fill="none" h="21199" w="337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3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h="44040" w="3131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3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fill="none" h="44040" w="3131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3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h="53767" w="3111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3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fill="none" h="53767" w="3111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3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h="31124" w="1982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3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fill="none" h="31124" w="1982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3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h="54461" w="7509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3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fill="none" h="54461" w="7509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3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h="55966" w="5171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3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fill="none" h="55966" w="5171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3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h="46794" w="5211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3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fill="none" h="46794" w="5211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7" name="Google Shape;257;p13"/>
          <p:cNvGrpSpPr/>
          <p:nvPr/>
        </p:nvGrpSpPr>
        <p:grpSpPr>
          <a:xfrm rot="10800000">
            <a:off x="4788160" y="-1654085"/>
            <a:ext cx="3689134" cy="3227984"/>
            <a:chOff x="1067625" y="-1658125"/>
            <a:chExt cx="2887550" cy="2526600"/>
          </a:xfrm>
        </p:grpSpPr>
        <p:sp>
          <p:nvSpPr>
            <p:cNvPr id="258" name="Google Shape;258;p13"/>
            <p:cNvSpPr/>
            <p:nvPr/>
          </p:nvSpPr>
          <p:spPr>
            <a:xfrm>
              <a:off x="1067625" y="-1658125"/>
              <a:ext cx="2887550" cy="2526600"/>
            </a:xfrm>
            <a:custGeom>
              <a:rect b="b" l="l" r="r" t="t"/>
              <a:pathLst>
                <a:path extrusionOk="0" h="101064" w="115502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1399800" y="-802100"/>
              <a:ext cx="2037900" cy="1095625"/>
            </a:xfrm>
            <a:custGeom>
              <a:rect b="b" l="l" r="r" t="t"/>
              <a:pathLst>
                <a:path extrusionOk="0" fill="none" h="43825" w="81516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3"/>
            <p:cNvSpPr/>
            <p:nvPr/>
          </p:nvSpPr>
          <p:spPr>
            <a:xfrm>
              <a:off x="2354850" y="-1076800"/>
              <a:ext cx="605325" cy="544625"/>
            </a:xfrm>
            <a:custGeom>
              <a:rect b="b" l="l" r="r" t="t"/>
              <a:pathLst>
                <a:path extrusionOk="0" fill="none" h="21785" w="24213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3"/>
            <p:cNvSpPr/>
            <p:nvPr/>
          </p:nvSpPr>
          <p:spPr>
            <a:xfrm>
              <a:off x="1874150" y="-1353075"/>
              <a:ext cx="608500" cy="546225"/>
            </a:xfrm>
            <a:custGeom>
              <a:rect b="b" l="l" r="r" t="t"/>
              <a:pathLst>
                <a:path extrusionOk="0" fill="none" h="21849" w="2434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3"/>
            <p:cNvSpPr/>
            <p:nvPr/>
          </p:nvSpPr>
          <p:spPr>
            <a:xfrm>
              <a:off x="2830800" y="-1353075"/>
              <a:ext cx="606900" cy="546225"/>
            </a:xfrm>
            <a:custGeom>
              <a:rect b="b" l="l" r="r" t="t"/>
              <a:pathLst>
                <a:path extrusionOk="0" fill="none" h="21849" w="24276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3"/>
            <p:cNvSpPr/>
            <p:nvPr/>
          </p:nvSpPr>
          <p:spPr>
            <a:xfrm>
              <a:off x="1067625" y="-1658125"/>
              <a:ext cx="2887550" cy="2526600"/>
            </a:xfrm>
            <a:custGeom>
              <a:rect b="b" l="l" r="r" t="t"/>
              <a:pathLst>
                <a:path extrusionOk="0" fill="none" h="101064" w="115502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Μόνο τίτλος 1">
  <p:cSld name="TITLE_ONLY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"/>
          <p:cNvSpPr txBox="1"/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/>
        </p:txBody>
      </p:sp>
      <p:grpSp>
        <p:nvGrpSpPr>
          <p:cNvPr id="266" name="Google Shape;266;p14"/>
          <p:cNvGrpSpPr/>
          <p:nvPr/>
        </p:nvGrpSpPr>
        <p:grpSpPr>
          <a:xfrm rot="5400000">
            <a:off x="7563177" y="3334164"/>
            <a:ext cx="3689423" cy="3228237"/>
            <a:chOff x="1067625" y="-1658125"/>
            <a:chExt cx="2887550" cy="2526600"/>
          </a:xfrm>
        </p:grpSpPr>
        <p:sp>
          <p:nvSpPr>
            <p:cNvPr id="267" name="Google Shape;267;p14"/>
            <p:cNvSpPr/>
            <p:nvPr/>
          </p:nvSpPr>
          <p:spPr>
            <a:xfrm>
              <a:off x="1067625" y="-1658125"/>
              <a:ext cx="2887550" cy="2526600"/>
            </a:xfrm>
            <a:custGeom>
              <a:rect b="b" l="l" r="r" t="t"/>
              <a:pathLst>
                <a:path extrusionOk="0" h="101064" w="115502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1399800" y="-802100"/>
              <a:ext cx="2037900" cy="1095625"/>
            </a:xfrm>
            <a:custGeom>
              <a:rect b="b" l="l" r="r" t="t"/>
              <a:pathLst>
                <a:path extrusionOk="0" fill="none" h="43825" w="81516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2354850" y="-1076800"/>
              <a:ext cx="605325" cy="544625"/>
            </a:xfrm>
            <a:custGeom>
              <a:rect b="b" l="l" r="r" t="t"/>
              <a:pathLst>
                <a:path extrusionOk="0" fill="none" h="21785" w="24213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1874150" y="-1353075"/>
              <a:ext cx="608500" cy="546225"/>
            </a:xfrm>
            <a:custGeom>
              <a:rect b="b" l="l" r="r" t="t"/>
              <a:pathLst>
                <a:path extrusionOk="0" fill="none" h="21849" w="2434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2830800" y="-1353075"/>
              <a:ext cx="606900" cy="546225"/>
            </a:xfrm>
            <a:custGeom>
              <a:rect b="b" l="l" r="r" t="t"/>
              <a:pathLst>
                <a:path extrusionOk="0" fill="none" h="21849" w="24276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1067625" y="-1658125"/>
              <a:ext cx="2887550" cy="2526600"/>
            </a:xfrm>
            <a:custGeom>
              <a:rect b="b" l="l" r="r" t="t"/>
              <a:pathLst>
                <a:path extrusionOk="0" fill="none" h="101064" w="115502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3" name="Google Shape;273;p14"/>
          <p:cNvGrpSpPr/>
          <p:nvPr/>
        </p:nvGrpSpPr>
        <p:grpSpPr>
          <a:xfrm flipH="1" rot="10800000">
            <a:off x="-1928707" y="-3022366"/>
            <a:ext cx="2638315" cy="4402295"/>
            <a:chOff x="238125" y="1025750"/>
            <a:chExt cx="844450" cy="1409050"/>
          </a:xfrm>
        </p:grpSpPr>
        <p:sp>
          <p:nvSpPr>
            <p:cNvPr id="274" name="Google Shape;274;p14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h="46517" w="2161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fill="none" h="46517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h="36790" w="218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fill="none" h="36790" w="218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h="53866" w="3051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fill="none" h="53866" w="3051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h="54243" w="2161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fill="none" h="54243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h="56362" w="218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fill="none" h="56362" w="218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h="16504" w="337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fill="none" h="16504" w="337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h="40256" w="218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fill="none" h="40256" w="218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h="29876" w="4795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fill="none" h="29876" w="4795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h="18306" w="2239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fill="none" h="18306" w="2239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h="39603" w="4815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fill="none" h="39603" w="4815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h="44496" w="218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4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fill="none" h="44496" w="218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4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h="46616" w="218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4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fill="none" h="46616" w="218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4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h="26231" w="338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4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fill="none" h="26231" w="338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h="36988" w="216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fill="none" h="36988" w="216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4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h="46239" w="2161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4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fill="none" h="46239" w="2161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4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h="24388" w="338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4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fill="none" h="24388" w="338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h="28033" w="224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4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fill="none" h="28033" w="224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h="21397" w="1982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fill="none" h="21397" w="1982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h="21199" w="337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4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fill="none" h="21199" w="337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4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h="44040" w="3131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4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fill="none" h="44040" w="3131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4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h="53767" w="3111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4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fill="none" h="53767" w="3111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4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h="31124" w="1982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4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fill="none" h="31124" w="1982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4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h="54461" w="7509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fill="none" h="54461" w="7509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h="55966" w="5171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4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fill="none" h="55966" w="5171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4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h="46794" w="5211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4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fill="none" h="46794" w="5211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4" name="Google Shape;324;p14"/>
          <p:cNvGrpSpPr/>
          <p:nvPr/>
        </p:nvGrpSpPr>
        <p:grpSpPr>
          <a:xfrm flipH="1" rot="10800000">
            <a:off x="8434393" y="-3022366"/>
            <a:ext cx="2638315" cy="4402295"/>
            <a:chOff x="238125" y="1025750"/>
            <a:chExt cx="844450" cy="1409050"/>
          </a:xfrm>
        </p:grpSpPr>
        <p:sp>
          <p:nvSpPr>
            <p:cNvPr id="325" name="Google Shape;325;p14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h="46517" w="2161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fill="none" h="46517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h="36790" w="218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fill="none" h="36790" w="218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h="53866" w="3051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fill="none" h="53866" w="3051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h="54243" w="2161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fill="none" h="54243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h="56362" w="218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fill="none" h="56362" w="218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h="16504" w="337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fill="none" h="16504" w="337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h="40256" w="218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fill="none" h="40256" w="218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h="29876" w="4795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fill="none" h="29876" w="4795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h="18306" w="2239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fill="none" h="18306" w="2239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4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h="39603" w="4815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4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fill="none" h="39603" w="4815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h="44496" w="218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fill="none" h="44496" w="218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h="46616" w="218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fill="none" h="46616" w="218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h="26231" w="338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fill="none" h="26231" w="338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h="36988" w="216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fill="none" h="36988" w="216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h="46239" w="2161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fill="none" h="46239" w="2161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h="24388" w="338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fill="none" h="24388" w="338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h="28033" w="224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fill="none" h="28033" w="224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h="21397" w="1982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fill="none" h="21397" w="1982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h="21199" w="337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4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fill="none" h="21199" w="337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4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h="44040" w="3131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4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fill="none" h="44040" w="3131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4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h="53767" w="3111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4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fill="none" h="53767" w="3111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4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h="31124" w="1982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4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fill="none" h="31124" w="1982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h="54461" w="7509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4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fill="none" h="54461" w="7509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4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h="55966" w="5171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4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fill="none" h="55966" w="5171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h="46794" w="5211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4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fill="none" h="46794" w="5211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5" name="Google Shape;375;p14"/>
          <p:cNvGrpSpPr/>
          <p:nvPr/>
        </p:nvGrpSpPr>
        <p:grpSpPr>
          <a:xfrm rot="5400000">
            <a:off x="-1632423" y="4257064"/>
            <a:ext cx="3689423" cy="3228237"/>
            <a:chOff x="1067625" y="-1658125"/>
            <a:chExt cx="2887550" cy="2526600"/>
          </a:xfrm>
        </p:grpSpPr>
        <p:sp>
          <p:nvSpPr>
            <p:cNvPr id="376" name="Google Shape;376;p14"/>
            <p:cNvSpPr/>
            <p:nvPr/>
          </p:nvSpPr>
          <p:spPr>
            <a:xfrm>
              <a:off x="1067625" y="-1658125"/>
              <a:ext cx="2887550" cy="2526600"/>
            </a:xfrm>
            <a:custGeom>
              <a:rect b="b" l="l" r="r" t="t"/>
              <a:pathLst>
                <a:path extrusionOk="0" h="101064" w="115502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1399800" y="-802100"/>
              <a:ext cx="2037900" cy="1095625"/>
            </a:xfrm>
            <a:custGeom>
              <a:rect b="b" l="l" r="r" t="t"/>
              <a:pathLst>
                <a:path extrusionOk="0" fill="none" h="43825" w="81516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4"/>
            <p:cNvSpPr/>
            <p:nvPr/>
          </p:nvSpPr>
          <p:spPr>
            <a:xfrm>
              <a:off x="2354850" y="-1076800"/>
              <a:ext cx="605325" cy="544625"/>
            </a:xfrm>
            <a:custGeom>
              <a:rect b="b" l="l" r="r" t="t"/>
              <a:pathLst>
                <a:path extrusionOk="0" fill="none" h="21785" w="24213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4"/>
            <p:cNvSpPr/>
            <p:nvPr/>
          </p:nvSpPr>
          <p:spPr>
            <a:xfrm>
              <a:off x="1874150" y="-1353075"/>
              <a:ext cx="608500" cy="546225"/>
            </a:xfrm>
            <a:custGeom>
              <a:rect b="b" l="l" r="r" t="t"/>
              <a:pathLst>
                <a:path extrusionOk="0" fill="none" h="21849" w="2434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2830800" y="-1353075"/>
              <a:ext cx="606900" cy="546225"/>
            </a:xfrm>
            <a:custGeom>
              <a:rect b="b" l="l" r="r" t="t"/>
              <a:pathLst>
                <a:path extrusionOk="0" fill="none" h="21849" w="24276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4"/>
            <p:cNvSpPr/>
            <p:nvPr/>
          </p:nvSpPr>
          <p:spPr>
            <a:xfrm>
              <a:off x="1067625" y="-1658125"/>
              <a:ext cx="2887550" cy="2526600"/>
            </a:xfrm>
            <a:custGeom>
              <a:rect b="b" l="l" r="r" t="t"/>
              <a:pathLst>
                <a:path extrusionOk="0" fill="none" h="101064" w="115502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δύο στήλες 1">
  <p:cSld name="TITLE_AND_TWO_COLUMNS_1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5"/>
          <p:cNvSpPr txBox="1"/>
          <p:nvPr>
            <p:ph idx="1" type="subTitle"/>
          </p:nvPr>
        </p:nvSpPr>
        <p:spPr>
          <a:xfrm>
            <a:off x="1671740" y="1678250"/>
            <a:ext cx="4391700" cy="42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/>
        </p:txBody>
      </p:sp>
      <p:sp>
        <p:nvSpPr>
          <p:cNvPr id="384" name="Google Shape;384;p15"/>
          <p:cNvSpPr txBox="1"/>
          <p:nvPr>
            <p:ph idx="2" type="subTitle"/>
          </p:nvPr>
        </p:nvSpPr>
        <p:spPr>
          <a:xfrm>
            <a:off x="3080572" y="3338606"/>
            <a:ext cx="4391700" cy="42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/>
        </p:txBody>
      </p:sp>
      <p:sp>
        <p:nvSpPr>
          <p:cNvPr id="385" name="Google Shape;385;p15"/>
          <p:cNvSpPr txBox="1"/>
          <p:nvPr>
            <p:ph idx="3" type="subTitle"/>
          </p:nvPr>
        </p:nvSpPr>
        <p:spPr>
          <a:xfrm>
            <a:off x="1671740" y="2018050"/>
            <a:ext cx="43917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6" name="Google Shape;386;p15"/>
          <p:cNvSpPr txBox="1"/>
          <p:nvPr>
            <p:ph idx="4" type="subTitle"/>
          </p:nvPr>
        </p:nvSpPr>
        <p:spPr>
          <a:xfrm>
            <a:off x="3080570" y="3678400"/>
            <a:ext cx="43917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7" name="Google Shape;387;p15"/>
          <p:cNvSpPr txBox="1"/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/>
        </p:txBody>
      </p:sp>
      <p:grpSp>
        <p:nvGrpSpPr>
          <p:cNvPr id="388" name="Google Shape;388;p15"/>
          <p:cNvGrpSpPr/>
          <p:nvPr/>
        </p:nvGrpSpPr>
        <p:grpSpPr>
          <a:xfrm rot="7200144">
            <a:off x="-809410" y="3328901"/>
            <a:ext cx="3689443" cy="3228255"/>
            <a:chOff x="1067625" y="-1658125"/>
            <a:chExt cx="2887550" cy="2526600"/>
          </a:xfrm>
        </p:grpSpPr>
        <p:sp>
          <p:nvSpPr>
            <p:cNvPr id="389" name="Google Shape;389;p15"/>
            <p:cNvSpPr/>
            <p:nvPr/>
          </p:nvSpPr>
          <p:spPr>
            <a:xfrm>
              <a:off x="1067625" y="-1658125"/>
              <a:ext cx="2887550" cy="2526600"/>
            </a:xfrm>
            <a:custGeom>
              <a:rect b="b" l="l" r="r" t="t"/>
              <a:pathLst>
                <a:path extrusionOk="0" h="101064" w="115502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1399800" y="-802100"/>
              <a:ext cx="2037900" cy="1095625"/>
            </a:xfrm>
            <a:custGeom>
              <a:rect b="b" l="l" r="r" t="t"/>
              <a:pathLst>
                <a:path extrusionOk="0" fill="none" h="43825" w="81516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2354850" y="-1076800"/>
              <a:ext cx="605325" cy="544625"/>
            </a:xfrm>
            <a:custGeom>
              <a:rect b="b" l="l" r="r" t="t"/>
              <a:pathLst>
                <a:path extrusionOk="0" fill="none" h="21785" w="24213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1874150" y="-1353075"/>
              <a:ext cx="608500" cy="546225"/>
            </a:xfrm>
            <a:custGeom>
              <a:rect b="b" l="l" r="r" t="t"/>
              <a:pathLst>
                <a:path extrusionOk="0" fill="none" h="21849" w="2434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2830800" y="-1353075"/>
              <a:ext cx="606900" cy="546225"/>
            </a:xfrm>
            <a:custGeom>
              <a:rect b="b" l="l" r="r" t="t"/>
              <a:pathLst>
                <a:path extrusionOk="0" fill="none" h="21849" w="24276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5"/>
            <p:cNvSpPr/>
            <p:nvPr/>
          </p:nvSpPr>
          <p:spPr>
            <a:xfrm>
              <a:off x="1067625" y="-1658125"/>
              <a:ext cx="2887550" cy="2526600"/>
            </a:xfrm>
            <a:custGeom>
              <a:rect b="b" l="l" r="r" t="t"/>
              <a:pathLst>
                <a:path extrusionOk="0" fill="none" h="101064" w="115502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"/>
          <p:cNvSpPr txBox="1"/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/>
        </p:txBody>
      </p:sp>
      <p:sp>
        <p:nvSpPr>
          <p:cNvPr id="397" name="Google Shape;397;p16"/>
          <p:cNvSpPr txBox="1"/>
          <p:nvPr>
            <p:ph idx="1" type="subTitle"/>
          </p:nvPr>
        </p:nvSpPr>
        <p:spPr>
          <a:xfrm>
            <a:off x="721500" y="2356525"/>
            <a:ext cx="2343000" cy="433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/>
        </p:txBody>
      </p:sp>
      <p:sp>
        <p:nvSpPr>
          <p:cNvPr id="398" name="Google Shape;398;p16"/>
          <p:cNvSpPr txBox="1"/>
          <p:nvPr>
            <p:ph idx="2" type="subTitle"/>
          </p:nvPr>
        </p:nvSpPr>
        <p:spPr>
          <a:xfrm>
            <a:off x="720000" y="2725894"/>
            <a:ext cx="23460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16"/>
          <p:cNvSpPr txBox="1"/>
          <p:nvPr>
            <p:ph idx="3" type="subTitle"/>
          </p:nvPr>
        </p:nvSpPr>
        <p:spPr>
          <a:xfrm>
            <a:off x="3402000" y="2018081"/>
            <a:ext cx="23430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16"/>
          <p:cNvSpPr txBox="1"/>
          <p:nvPr>
            <p:ph idx="4" type="subTitle"/>
          </p:nvPr>
        </p:nvSpPr>
        <p:spPr>
          <a:xfrm>
            <a:off x="6081000" y="2725900"/>
            <a:ext cx="23430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16"/>
          <p:cNvSpPr txBox="1"/>
          <p:nvPr>
            <p:ph idx="5" type="subTitle"/>
          </p:nvPr>
        </p:nvSpPr>
        <p:spPr>
          <a:xfrm>
            <a:off x="3402061" y="1648719"/>
            <a:ext cx="2343000" cy="433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/>
        </p:txBody>
      </p:sp>
      <p:sp>
        <p:nvSpPr>
          <p:cNvPr id="402" name="Google Shape;402;p16"/>
          <p:cNvSpPr txBox="1"/>
          <p:nvPr>
            <p:ph idx="6" type="subTitle"/>
          </p:nvPr>
        </p:nvSpPr>
        <p:spPr>
          <a:xfrm>
            <a:off x="6081001" y="2356525"/>
            <a:ext cx="2343000" cy="433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Τίτλος και δύο στήλες 2">
  <p:cSld name="TITLE_AND_TWO_COLUMNS_2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7"/>
          <p:cNvSpPr txBox="1"/>
          <p:nvPr>
            <p:ph idx="1" type="subTitle"/>
          </p:nvPr>
        </p:nvSpPr>
        <p:spPr>
          <a:xfrm>
            <a:off x="1671740" y="1678250"/>
            <a:ext cx="4391700" cy="42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/>
        </p:txBody>
      </p:sp>
      <p:sp>
        <p:nvSpPr>
          <p:cNvPr id="405" name="Google Shape;405;p17"/>
          <p:cNvSpPr txBox="1"/>
          <p:nvPr>
            <p:ph idx="2" type="subTitle"/>
          </p:nvPr>
        </p:nvSpPr>
        <p:spPr>
          <a:xfrm>
            <a:off x="3080572" y="3338606"/>
            <a:ext cx="4391700" cy="42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/>
        </p:txBody>
      </p:sp>
      <p:sp>
        <p:nvSpPr>
          <p:cNvPr id="406" name="Google Shape;406;p17"/>
          <p:cNvSpPr txBox="1"/>
          <p:nvPr>
            <p:ph idx="3" type="subTitle"/>
          </p:nvPr>
        </p:nvSpPr>
        <p:spPr>
          <a:xfrm>
            <a:off x="1671740" y="2018050"/>
            <a:ext cx="43917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7" name="Google Shape;407;p17"/>
          <p:cNvSpPr txBox="1"/>
          <p:nvPr>
            <p:ph idx="4" type="subTitle"/>
          </p:nvPr>
        </p:nvSpPr>
        <p:spPr>
          <a:xfrm>
            <a:off x="3080570" y="3678400"/>
            <a:ext cx="43917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17"/>
          <p:cNvSpPr txBox="1"/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/>
        </p:txBody>
      </p:sp>
      <p:grpSp>
        <p:nvGrpSpPr>
          <p:cNvPr id="409" name="Google Shape;409;p17"/>
          <p:cNvGrpSpPr/>
          <p:nvPr/>
        </p:nvGrpSpPr>
        <p:grpSpPr>
          <a:xfrm rot="7200144">
            <a:off x="-809410" y="3328901"/>
            <a:ext cx="3689443" cy="3228255"/>
            <a:chOff x="1067625" y="-1658125"/>
            <a:chExt cx="2887550" cy="2526600"/>
          </a:xfrm>
        </p:grpSpPr>
        <p:sp>
          <p:nvSpPr>
            <p:cNvPr id="410" name="Google Shape;410;p17"/>
            <p:cNvSpPr/>
            <p:nvPr/>
          </p:nvSpPr>
          <p:spPr>
            <a:xfrm>
              <a:off x="1067625" y="-1658125"/>
              <a:ext cx="2887550" cy="2526600"/>
            </a:xfrm>
            <a:custGeom>
              <a:rect b="b" l="l" r="r" t="t"/>
              <a:pathLst>
                <a:path extrusionOk="0" h="101064" w="115502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7"/>
            <p:cNvSpPr/>
            <p:nvPr/>
          </p:nvSpPr>
          <p:spPr>
            <a:xfrm>
              <a:off x="1399800" y="-802100"/>
              <a:ext cx="2037900" cy="1095625"/>
            </a:xfrm>
            <a:custGeom>
              <a:rect b="b" l="l" r="r" t="t"/>
              <a:pathLst>
                <a:path extrusionOk="0" fill="none" h="43825" w="81516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7"/>
            <p:cNvSpPr/>
            <p:nvPr/>
          </p:nvSpPr>
          <p:spPr>
            <a:xfrm>
              <a:off x="2354850" y="-1076800"/>
              <a:ext cx="605325" cy="544625"/>
            </a:xfrm>
            <a:custGeom>
              <a:rect b="b" l="l" r="r" t="t"/>
              <a:pathLst>
                <a:path extrusionOk="0" fill="none" h="21785" w="24213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7"/>
            <p:cNvSpPr/>
            <p:nvPr/>
          </p:nvSpPr>
          <p:spPr>
            <a:xfrm>
              <a:off x="1874150" y="-1353075"/>
              <a:ext cx="608500" cy="546225"/>
            </a:xfrm>
            <a:custGeom>
              <a:rect b="b" l="l" r="r" t="t"/>
              <a:pathLst>
                <a:path extrusionOk="0" fill="none" h="21849" w="2434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7"/>
            <p:cNvSpPr/>
            <p:nvPr/>
          </p:nvSpPr>
          <p:spPr>
            <a:xfrm>
              <a:off x="2830800" y="-1353075"/>
              <a:ext cx="606900" cy="546225"/>
            </a:xfrm>
            <a:custGeom>
              <a:rect b="b" l="l" r="r" t="t"/>
              <a:pathLst>
                <a:path extrusionOk="0" fill="none" h="21849" w="24276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7"/>
            <p:cNvSpPr/>
            <p:nvPr/>
          </p:nvSpPr>
          <p:spPr>
            <a:xfrm>
              <a:off x="1067625" y="-1658125"/>
              <a:ext cx="2887550" cy="2526600"/>
            </a:xfrm>
            <a:custGeom>
              <a:rect b="b" l="l" r="r" t="t"/>
              <a:pathLst>
                <a:path extrusionOk="0" fill="none" h="101064" w="115502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8"/>
          <p:cNvSpPr txBox="1"/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/>
        </p:txBody>
      </p:sp>
      <p:grpSp>
        <p:nvGrpSpPr>
          <p:cNvPr id="418" name="Google Shape;418;p18"/>
          <p:cNvGrpSpPr/>
          <p:nvPr/>
        </p:nvGrpSpPr>
        <p:grpSpPr>
          <a:xfrm flipH="1" rot="5400000">
            <a:off x="7944177" y="-329513"/>
            <a:ext cx="3689423" cy="3228237"/>
            <a:chOff x="1067625" y="-1658125"/>
            <a:chExt cx="2887550" cy="2526600"/>
          </a:xfrm>
        </p:grpSpPr>
        <p:sp>
          <p:nvSpPr>
            <p:cNvPr id="419" name="Google Shape;419;p18"/>
            <p:cNvSpPr/>
            <p:nvPr/>
          </p:nvSpPr>
          <p:spPr>
            <a:xfrm>
              <a:off x="1067625" y="-1658125"/>
              <a:ext cx="2887550" cy="2526600"/>
            </a:xfrm>
            <a:custGeom>
              <a:rect b="b" l="l" r="r" t="t"/>
              <a:pathLst>
                <a:path extrusionOk="0" h="101064" w="115502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8"/>
            <p:cNvSpPr/>
            <p:nvPr/>
          </p:nvSpPr>
          <p:spPr>
            <a:xfrm>
              <a:off x="1399800" y="-802100"/>
              <a:ext cx="2037900" cy="1095625"/>
            </a:xfrm>
            <a:custGeom>
              <a:rect b="b" l="l" r="r" t="t"/>
              <a:pathLst>
                <a:path extrusionOk="0" fill="none" h="43825" w="81516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8"/>
            <p:cNvSpPr/>
            <p:nvPr/>
          </p:nvSpPr>
          <p:spPr>
            <a:xfrm>
              <a:off x="2354850" y="-1076800"/>
              <a:ext cx="605325" cy="544625"/>
            </a:xfrm>
            <a:custGeom>
              <a:rect b="b" l="l" r="r" t="t"/>
              <a:pathLst>
                <a:path extrusionOk="0" fill="none" h="21785" w="24213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8"/>
            <p:cNvSpPr/>
            <p:nvPr/>
          </p:nvSpPr>
          <p:spPr>
            <a:xfrm>
              <a:off x="1874150" y="-1353075"/>
              <a:ext cx="608500" cy="546225"/>
            </a:xfrm>
            <a:custGeom>
              <a:rect b="b" l="l" r="r" t="t"/>
              <a:pathLst>
                <a:path extrusionOk="0" fill="none" h="21849" w="2434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8"/>
            <p:cNvSpPr/>
            <p:nvPr/>
          </p:nvSpPr>
          <p:spPr>
            <a:xfrm>
              <a:off x="2830800" y="-1353075"/>
              <a:ext cx="606900" cy="546225"/>
            </a:xfrm>
            <a:custGeom>
              <a:rect b="b" l="l" r="r" t="t"/>
              <a:pathLst>
                <a:path extrusionOk="0" fill="none" h="21849" w="24276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8"/>
            <p:cNvSpPr/>
            <p:nvPr/>
          </p:nvSpPr>
          <p:spPr>
            <a:xfrm>
              <a:off x="1067625" y="-1658125"/>
              <a:ext cx="2887550" cy="2526600"/>
            </a:xfrm>
            <a:custGeom>
              <a:rect b="b" l="l" r="r" t="t"/>
              <a:pathLst>
                <a:path extrusionOk="0" fill="none" h="101064" w="115502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5" name="Google Shape;425;p18"/>
          <p:cNvGrpSpPr/>
          <p:nvPr/>
        </p:nvGrpSpPr>
        <p:grpSpPr>
          <a:xfrm flipH="1" rot="5400000">
            <a:off x="-1904373" y="-2177363"/>
            <a:ext cx="3689423" cy="3228237"/>
            <a:chOff x="1067625" y="-1658125"/>
            <a:chExt cx="2887550" cy="2526600"/>
          </a:xfrm>
        </p:grpSpPr>
        <p:sp>
          <p:nvSpPr>
            <p:cNvPr id="426" name="Google Shape;426;p18"/>
            <p:cNvSpPr/>
            <p:nvPr/>
          </p:nvSpPr>
          <p:spPr>
            <a:xfrm>
              <a:off x="1067625" y="-1658125"/>
              <a:ext cx="2887550" cy="2526600"/>
            </a:xfrm>
            <a:custGeom>
              <a:rect b="b" l="l" r="r" t="t"/>
              <a:pathLst>
                <a:path extrusionOk="0" h="101064" w="115502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18"/>
            <p:cNvSpPr/>
            <p:nvPr/>
          </p:nvSpPr>
          <p:spPr>
            <a:xfrm>
              <a:off x="1399800" y="-802100"/>
              <a:ext cx="2037900" cy="1095625"/>
            </a:xfrm>
            <a:custGeom>
              <a:rect b="b" l="l" r="r" t="t"/>
              <a:pathLst>
                <a:path extrusionOk="0" fill="none" h="43825" w="81516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8"/>
            <p:cNvSpPr/>
            <p:nvPr/>
          </p:nvSpPr>
          <p:spPr>
            <a:xfrm>
              <a:off x="2354850" y="-1076800"/>
              <a:ext cx="605325" cy="544625"/>
            </a:xfrm>
            <a:custGeom>
              <a:rect b="b" l="l" r="r" t="t"/>
              <a:pathLst>
                <a:path extrusionOk="0" fill="none" h="21785" w="24213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8"/>
            <p:cNvSpPr/>
            <p:nvPr/>
          </p:nvSpPr>
          <p:spPr>
            <a:xfrm>
              <a:off x="1874150" y="-1353075"/>
              <a:ext cx="608500" cy="546225"/>
            </a:xfrm>
            <a:custGeom>
              <a:rect b="b" l="l" r="r" t="t"/>
              <a:pathLst>
                <a:path extrusionOk="0" fill="none" h="21849" w="2434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8"/>
            <p:cNvSpPr/>
            <p:nvPr/>
          </p:nvSpPr>
          <p:spPr>
            <a:xfrm>
              <a:off x="2830800" y="-1353075"/>
              <a:ext cx="606900" cy="546225"/>
            </a:xfrm>
            <a:custGeom>
              <a:rect b="b" l="l" r="r" t="t"/>
              <a:pathLst>
                <a:path extrusionOk="0" fill="none" h="21849" w="24276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8"/>
            <p:cNvSpPr/>
            <p:nvPr/>
          </p:nvSpPr>
          <p:spPr>
            <a:xfrm>
              <a:off x="1067625" y="-1658125"/>
              <a:ext cx="2887550" cy="2526600"/>
            </a:xfrm>
            <a:custGeom>
              <a:rect b="b" l="l" r="r" t="t"/>
              <a:pathLst>
                <a:path extrusionOk="0" fill="none" h="101064" w="115502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2" name="Google Shape;432;p18"/>
          <p:cNvGrpSpPr/>
          <p:nvPr/>
        </p:nvGrpSpPr>
        <p:grpSpPr>
          <a:xfrm>
            <a:off x="8605843" y="3681258"/>
            <a:ext cx="2638315" cy="4402295"/>
            <a:chOff x="238125" y="1025750"/>
            <a:chExt cx="844450" cy="1409050"/>
          </a:xfrm>
        </p:grpSpPr>
        <p:sp>
          <p:nvSpPr>
            <p:cNvPr id="433" name="Google Shape;433;p18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h="46517" w="2161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8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fill="none" h="46517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8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h="36790" w="218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8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fill="none" h="36790" w="218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8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h="53866" w="3051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8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fill="none" h="53866" w="3051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8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h="54243" w="2161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8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fill="none" h="54243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8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h="56362" w="218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8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fill="none" h="56362" w="218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h="16504" w="337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8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fill="none" h="16504" w="337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8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h="40256" w="218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8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fill="none" h="40256" w="218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8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h="29876" w="4795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8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fill="none" h="29876" w="4795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8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h="18306" w="2239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8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fill="none" h="18306" w="2239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8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h="39603" w="4815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8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fill="none" h="39603" w="4815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8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h="44496" w="218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8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fill="none" h="44496" w="218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8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h="46616" w="218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8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fill="none" h="46616" w="218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8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h="26231" w="338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8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fill="none" h="26231" w="338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8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h="36988" w="216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8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fill="none" h="36988" w="216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8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h="46239" w="2161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8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fill="none" h="46239" w="2161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8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h="24388" w="338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8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fill="none" h="24388" w="338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8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h="28033" w="224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8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fill="none" h="28033" w="224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8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h="21397" w="1982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8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fill="none" h="21397" w="1982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8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h="21199" w="337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8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fill="none" h="21199" w="337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8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h="44040" w="3131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8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fill="none" h="44040" w="3131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8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h="53767" w="3111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8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fill="none" h="53767" w="3111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8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h="31124" w="1982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8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fill="none" h="31124" w="1982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8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h="54461" w="7509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8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fill="none" h="54461" w="7509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h="55966" w="5171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8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fill="none" h="55966" w="5171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8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h="46794" w="5211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8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fill="none" h="46794" w="5211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3" name="Google Shape;483;p18"/>
          <p:cNvGrpSpPr/>
          <p:nvPr/>
        </p:nvGrpSpPr>
        <p:grpSpPr>
          <a:xfrm>
            <a:off x="-2043007" y="3845159"/>
            <a:ext cx="2638315" cy="4402295"/>
            <a:chOff x="238125" y="1025750"/>
            <a:chExt cx="844450" cy="1409050"/>
          </a:xfrm>
        </p:grpSpPr>
        <p:sp>
          <p:nvSpPr>
            <p:cNvPr id="484" name="Google Shape;484;p18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h="46517" w="2161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fill="none" h="46517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8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h="36790" w="218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8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fill="none" h="36790" w="218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8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h="53866" w="3051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8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fill="none" h="53866" w="3051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8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h="54243" w="2161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8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fill="none" h="54243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8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h="56362" w="218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8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fill="none" h="56362" w="218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8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h="16504" w="337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8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fill="none" h="16504" w="337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8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h="40256" w="218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8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fill="none" h="40256" w="218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8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h="29876" w="4795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8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fill="none" h="29876" w="4795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8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h="18306" w="2239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8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fill="none" h="18306" w="2239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8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h="39603" w="4815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8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fill="none" h="39603" w="4815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8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h="44496" w="218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8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fill="none" h="44496" w="218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8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h="46616" w="218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8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fill="none" h="46616" w="218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8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h="26231" w="338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8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fill="none" h="26231" w="338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8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h="36988" w="216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8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fill="none" h="36988" w="216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8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h="46239" w="2161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8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fill="none" h="46239" w="2161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8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h="24388" w="338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8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fill="none" h="24388" w="338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8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h="28033" w="224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8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fill="none" h="28033" w="224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8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h="21397" w="1982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8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fill="none" h="21397" w="1982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8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h="21199" w="337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8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fill="none" h="21199" w="337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8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h="44040" w="3131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8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fill="none" h="44040" w="3131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8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h="53767" w="3111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8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fill="none" h="53767" w="3111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8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h="31124" w="1982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8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fill="none" h="31124" w="1982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8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h="54461" w="7509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8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fill="none" h="54461" w="7509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8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h="55966" w="5171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8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fill="none" h="55966" w="5171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8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h="46794" w="5211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8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fill="none" h="46794" w="5211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4C2F4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9"/>
          <p:cNvSpPr txBox="1"/>
          <p:nvPr>
            <p:ph type="ctrTitle"/>
          </p:nvPr>
        </p:nvSpPr>
        <p:spPr>
          <a:xfrm>
            <a:off x="934675" y="600338"/>
            <a:ext cx="6815700" cy="238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Roboto Mono SemiBold"/>
                <a:ea typeface="Roboto Mono SemiBold"/>
                <a:cs typeface="Roboto Mono SemiBold"/>
                <a:sym typeface="Roboto Mono SemiBold"/>
              </a:rPr>
              <a:t>SDR-Based DDR Air-Gap Data Exfiltration</a:t>
            </a:r>
            <a:endParaRPr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539" name="Google Shape;539;p19"/>
          <p:cNvSpPr txBox="1"/>
          <p:nvPr>
            <p:ph idx="1" type="subTitle"/>
          </p:nvPr>
        </p:nvSpPr>
        <p:spPr>
          <a:xfrm>
            <a:off x="934675" y="3180363"/>
            <a:ext cx="6815700" cy="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/>
              <a:t>Exploiting Electromagnetic Side-Channels for Covert Communication</a:t>
            </a:r>
            <a:endParaRPr sz="1800"/>
          </a:p>
        </p:txBody>
      </p:sp>
      <p:cxnSp>
        <p:nvCxnSpPr>
          <p:cNvPr id="540" name="Google Shape;540;p19"/>
          <p:cNvCxnSpPr/>
          <p:nvPr/>
        </p:nvCxnSpPr>
        <p:spPr>
          <a:xfrm rot="10800000">
            <a:off x="-62475" y="3027463"/>
            <a:ext cx="2389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1" name="Google Shape;541;p19"/>
          <p:cNvSpPr txBox="1"/>
          <p:nvPr>
            <p:ph idx="4294967295" type="subTitle"/>
          </p:nvPr>
        </p:nvSpPr>
        <p:spPr>
          <a:xfrm>
            <a:off x="6371800" y="4030500"/>
            <a:ext cx="2455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l"/>
              <a:t>Nikas Ioannis Iason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l"/>
              <a:t>Tsiantos Dimitrios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Tsogkas Panagiotis Nikolaos</a:t>
            </a:r>
            <a:endParaRPr/>
          </a:p>
        </p:txBody>
      </p:sp>
      <p:pic>
        <p:nvPicPr>
          <p:cNvPr id="542" name="Google Shape;542;p19" title="UTH_greek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974" y="3896800"/>
            <a:ext cx="926300" cy="92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4C2F4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0"/>
          <p:cNvSpPr txBox="1"/>
          <p:nvPr>
            <p:ph idx="3" type="subTitle"/>
          </p:nvPr>
        </p:nvSpPr>
        <p:spPr>
          <a:xfrm>
            <a:off x="1337300" y="2018050"/>
            <a:ext cx="4726200" cy="9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Systems physically </a:t>
            </a:r>
            <a:r>
              <a:rPr b="1" lang="el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isolated </a:t>
            </a:r>
            <a:r>
              <a:rPr lang="el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from unsecured networks such as the internet. They are reserved for </a:t>
            </a:r>
            <a:r>
              <a:rPr b="1" lang="el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high-security</a:t>
            </a:r>
            <a:r>
              <a:rPr lang="el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 environments and the assumption is that since they are physically disconnected from other networks they are </a:t>
            </a:r>
            <a:r>
              <a:rPr b="1" lang="el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virtually immune</a:t>
            </a:r>
            <a:r>
              <a:rPr lang="el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 to remote attacks.  </a:t>
            </a:r>
            <a:endParaRPr>
              <a:solidFill>
                <a:srgbClr val="36363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Google Shape;548;p20"/>
          <p:cNvSpPr txBox="1"/>
          <p:nvPr>
            <p:ph idx="1" type="subTitle"/>
          </p:nvPr>
        </p:nvSpPr>
        <p:spPr>
          <a:xfrm>
            <a:off x="1671740" y="1678250"/>
            <a:ext cx="4391700" cy="42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are they?</a:t>
            </a:r>
            <a:endParaRPr/>
          </a:p>
        </p:txBody>
      </p:sp>
      <p:sp>
        <p:nvSpPr>
          <p:cNvPr id="549" name="Google Shape;549;p20"/>
          <p:cNvSpPr txBox="1"/>
          <p:nvPr>
            <p:ph idx="2" type="subTitle"/>
          </p:nvPr>
        </p:nvSpPr>
        <p:spPr>
          <a:xfrm>
            <a:off x="3080572" y="3338606"/>
            <a:ext cx="4391700" cy="42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reality</a:t>
            </a:r>
            <a:endParaRPr/>
          </a:p>
        </p:txBody>
      </p:sp>
      <p:sp>
        <p:nvSpPr>
          <p:cNvPr id="550" name="Google Shape;550;p20"/>
          <p:cNvSpPr txBox="1"/>
          <p:nvPr>
            <p:ph idx="4" type="subTitle"/>
          </p:nvPr>
        </p:nvSpPr>
        <p:spPr>
          <a:xfrm>
            <a:off x="3080575" y="3678400"/>
            <a:ext cx="4391700" cy="10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All electronic devices inherently emit electromagnetic radiation during operation and these emissions can as a </a:t>
            </a:r>
            <a:r>
              <a:rPr b="1" lang="el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side-channel</a:t>
            </a:r>
            <a:r>
              <a:rPr lang="el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. This project’s goal is to show that data exfiltration is </a:t>
            </a:r>
            <a:r>
              <a:rPr b="1" lang="el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possible </a:t>
            </a:r>
            <a:r>
              <a:rPr lang="el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with a simple user-space program and no special equipment.</a:t>
            </a:r>
            <a:endParaRPr>
              <a:solidFill>
                <a:srgbClr val="36363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20"/>
          <p:cNvSpPr txBox="1"/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363636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Air-gapped networks</a:t>
            </a: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 rot="10800000">
            <a:off x="6962818" y="-1984916"/>
            <a:ext cx="2638315" cy="4402295"/>
            <a:chOff x="238125" y="1025750"/>
            <a:chExt cx="844450" cy="1409050"/>
          </a:xfrm>
        </p:grpSpPr>
        <p:sp>
          <p:nvSpPr>
            <p:cNvPr id="553" name="Google Shape;553;p20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h="46517" w="2161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54" name="Google Shape;554;p20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fill="none" h="46517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55" name="Google Shape;555;p20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h="36790" w="218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56" name="Google Shape;556;p20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fill="none" h="36790" w="218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57" name="Google Shape;557;p20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h="53866" w="3051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58" name="Google Shape;558;p20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fill="none" h="53866" w="3051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59" name="Google Shape;559;p20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h="54243" w="2161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60" name="Google Shape;560;p20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fill="none" h="54243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61" name="Google Shape;561;p20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h="56362" w="218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62" name="Google Shape;562;p20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fill="none" h="56362" w="218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63" name="Google Shape;563;p20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h="16504" w="337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64" name="Google Shape;564;p20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fill="none" h="16504" w="337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65" name="Google Shape;565;p20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h="40256" w="218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66" name="Google Shape;566;p20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fill="none" h="40256" w="218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67" name="Google Shape;567;p20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h="29876" w="4795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68" name="Google Shape;568;p20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fill="none" h="29876" w="4795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69" name="Google Shape;569;p20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h="18306" w="2239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70" name="Google Shape;570;p20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fill="none" h="18306" w="2239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71" name="Google Shape;571;p20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h="39603" w="4815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72" name="Google Shape;572;p20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fill="none" h="39603" w="4815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73" name="Google Shape;573;p20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h="44496" w="218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74" name="Google Shape;574;p20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fill="none" h="44496" w="218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75" name="Google Shape;575;p20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h="46616" w="218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76" name="Google Shape;576;p20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fill="none" h="46616" w="218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77" name="Google Shape;577;p20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h="26231" w="338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78" name="Google Shape;578;p20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fill="none" h="26231" w="338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79" name="Google Shape;579;p20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h="36988" w="216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80" name="Google Shape;580;p20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fill="none" h="36988" w="216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81" name="Google Shape;581;p20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h="46239" w="2161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82" name="Google Shape;582;p20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fill="none" h="46239" w="2161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83" name="Google Shape;583;p20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h="24388" w="338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84" name="Google Shape;584;p20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fill="none" h="24388" w="338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85" name="Google Shape;585;p20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h="28033" w="224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86" name="Google Shape;586;p20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fill="none" h="28033" w="224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87" name="Google Shape;587;p20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h="21397" w="1982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88" name="Google Shape;588;p20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fill="none" h="21397" w="1982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89" name="Google Shape;589;p20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h="21199" w="337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90" name="Google Shape;590;p20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fill="none" h="21199" w="337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91" name="Google Shape;591;p20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h="44040" w="3131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92" name="Google Shape;592;p20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fill="none" h="44040" w="3131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93" name="Google Shape;593;p20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h="53767" w="3111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94" name="Google Shape;594;p20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fill="none" h="53767" w="3111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95" name="Google Shape;595;p20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h="31124" w="1982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96" name="Google Shape;596;p20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fill="none" h="31124" w="1982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97" name="Google Shape;597;p20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h="54461" w="7509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98" name="Google Shape;598;p20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fill="none" h="54461" w="7509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99" name="Google Shape;599;p20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h="55966" w="5171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fill="none" h="55966" w="5171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01" name="Google Shape;601;p20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h="46794" w="5211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02" name="Google Shape;602;p20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fill="none" h="46794" w="5211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cxnSp>
        <p:nvCxnSpPr>
          <p:cNvPr id="603" name="Google Shape;603;p20"/>
          <p:cNvCxnSpPr/>
          <p:nvPr/>
        </p:nvCxnSpPr>
        <p:spPr>
          <a:xfrm rot="10800000">
            <a:off x="3080475" y="3169539"/>
            <a:ext cx="6282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20"/>
          <p:cNvCxnSpPr/>
          <p:nvPr/>
        </p:nvCxnSpPr>
        <p:spPr>
          <a:xfrm rot="10800000">
            <a:off x="-219160" y="1511150"/>
            <a:ext cx="6282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4C2F4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9" name="Google Shape;609;p21"/>
          <p:cNvGrpSpPr/>
          <p:nvPr/>
        </p:nvGrpSpPr>
        <p:grpSpPr>
          <a:xfrm rot="-5400000">
            <a:off x="6391568" y="-1460960"/>
            <a:ext cx="3689423" cy="3228237"/>
            <a:chOff x="1067625" y="-1658125"/>
            <a:chExt cx="2887550" cy="2526600"/>
          </a:xfrm>
        </p:grpSpPr>
        <p:sp>
          <p:nvSpPr>
            <p:cNvPr id="610" name="Google Shape;610;p21"/>
            <p:cNvSpPr/>
            <p:nvPr/>
          </p:nvSpPr>
          <p:spPr>
            <a:xfrm>
              <a:off x="1067625" y="-1658125"/>
              <a:ext cx="2887550" cy="2526600"/>
            </a:xfrm>
            <a:custGeom>
              <a:rect b="b" l="l" r="r" t="t"/>
              <a:pathLst>
                <a:path extrusionOk="0" h="101064" w="115502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1"/>
            <p:cNvSpPr/>
            <p:nvPr/>
          </p:nvSpPr>
          <p:spPr>
            <a:xfrm>
              <a:off x="1399800" y="-802100"/>
              <a:ext cx="2037900" cy="1095625"/>
            </a:xfrm>
            <a:custGeom>
              <a:rect b="b" l="l" r="r" t="t"/>
              <a:pathLst>
                <a:path extrusionOk="0" fill="none" h="43825" w="81516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1"/>
            <p:cNvSpPr/>
            <p:nvPr/>
          </p:nvSpPr>
          <p:spPr>
            <a:xfrm>
              <a:off x="2354850" y="-1076800"/>
              <a:ext cx="605325" cy="544625"/>
            </a:xfrm>
            <a:custGeom>
              <a:rect b="b" l="l" r="r" t="t"/>
              <a:pathLst>
                <a:path extrusionOk="0" fill="none" h="21785" w="24213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1"/>
            <p:cNvSpPr/>
            <p:nvPr/>
          </p:nvSpPr>
          <p:spPr>
            <a:xfrm>
              <a:off x="1874150" y="-1353075"/>
              <a:ext cx="608500" cy="546225"/>
            </a:xfrm>
            <a:custGeom>
              <a:rect b="b" l="l" r="r" t="t"/>
              <a:pathLst>
                <a:path extrusionOk="0" fill="none" h="21849" w="2434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1"/>
            <p:cNvSpPr/>
            <p:nvPr/>
          </p:nvSpPr>
          <p:spPr>
            <a:xfrm>
              <a:off x="2830800" y="-1353075"/>
              <a:ext cx="606900" cy="546225"/>
            </a:xfrm>
            <a:custGeom>
              <a:rect b="b" l="l" r="r" t="t"/>
              <a:pathLst>
                <a:path extrusionOk="0" fill="none" h="21849" w="24276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1"/>
            <p:cNvSpPr/>
            <p:nvPr/>
          </p:nvSpPr>
          <p:spPr>
            <a:xfrm>
              <a:off x="1067625" y="-1658125"/>
              <a:ext cx="2887550" cy="2526600"/>
            </a:xfrm>
            <a:custGeom>
              <a:rect b="b" l="l" r="r" t="t"/>
              <a:pathLst>
                <a:path extrusionOk="0" fill="none" h="101064" w="115502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6" name="Google Shape;616;p21"/>
          <p:cNvGrpSpPr/>
          <p:nvPr/>
        </p:nvGrpSpPr>
        <p:grpSpPr>
          <a:xfrm flipH="1" rot="10800000">
            <a:off x="-217907" y="-2517541"/>
            <a:ext cx="2638315" cy="4402295"/>
            <a:chOff x="238125" y="1025750"/>
            <a:chExt cx="844450" cy="1409050"/>
          </a:xfrm>
        </p:grpSpPr>
        <p:sp>
          <p:nvSpPr>
            <p:cNvPr id="617" name="Google Shape;617;p21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h="46517" w="2161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1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fill="none" h="46517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1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h="36790" w="218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1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fill="none" h="36790" w="218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1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h="53866" w="3051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1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fill="none" h="53866" w="3051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1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h="54243" w="2161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1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fill="none" h="54243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1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h="56362" w="218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1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fill="none" h="56362" w="218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1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h="16504" w="337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1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fill="none" h="16504" w="337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1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h="40256" w="218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1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fill="none" h="40256" w="218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1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h="29876" w="4795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1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fill="none" h="29876" w="4795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1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h="18306" w="2239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1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fill="none" h="18306" w="2239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1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h="39603" w="4815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1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fill="none" h="39603" w="4815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1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h="44496" w="218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1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fill="none" h="44496" w="218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1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h="46616" w="218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1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fill="none" h="46616" w="218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1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h="26231" w="338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1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fill="none" h="26231" w="338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1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h="36988" w="216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1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fill="none" h="36988" w="216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1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h="46239" w="2161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1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fill="none" h="46239" w="2161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1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h="24388" w="338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1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fill="none" h="24388" w="338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1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h="28033" w="224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1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fill="none" h="28033" w="224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1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h="21397" w="1982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1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fill="none" h="21397" w="1982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1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h="21199" w="337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1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fill="none" h="21199" w="337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1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h="44040" w="3131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1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fill="none" h="44040" w="3131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1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h="53767" w="3111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1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fill="none" h="53767" w="3111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1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h="31124" w="1982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1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fill="none" h="31124" w="1982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1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h="54461" w="7509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1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fill="none" h="54461" w="7509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1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h="55966" w="5171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1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fill="none" h="55966" w="5171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1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h="46794" w="5211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1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fill="none" h="46794" w="5211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7" name="Google Shape;667;p21"/>
          <p:cNvSpPr txBox="1"/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363636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The leaking mechanism</a:t>
            </a:r>
            <a:endParaRPr/>
          </a:p>
        </p:txBody>
      </p:sp>
      <p:sp>
        <p:nvSpPr>
          <p:cNvPr id="668" name="Google Shape;668;p21"/>
          <p:cNvSpPr txBox="1"/>
          <p:nvPr>
            <p:ph idx="1" type="subTitle"/>
          </p:nvPr>
        </p:nvSpPr>
        <p:spPr>
          <a:xfrm>
            <a:off x="721500" y="2356525"/>
            <a:ext cx="2343000" cy="4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6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Maxwell’s Equations</a:t>
            </a:r>
            <a:endParaRPr/>
          </a:p>
        </p:txBody>
      </p:sp>
      <p:sp>
        <p:nvSpPr>
          <p:cNvPr id="669" name="Google Shape;669;p21"/>
          <p:cNvSpPr txBox="1"/>
          <p:nvPr>
            <p:ph idx="2" type="subTitle"/>
          </p:nvPr>
        </p:nvSpPr>
        <p:spPr>
          <a:xfrm>
            <a:off x="720000" y="2725894"/>
            <a:ext cx="23460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 time-varying electric current inevitably generates a magnetic field. This means that rapid change in current will produce electromagnetic signals.</a:t>
            </a:r>
            <a:endParaRPr/>
          </a:p>
        </p:txBody>
      </p:sp>
      <p:sp>
        <p:nvSpPr>
          <p:cNvPr id="670" name="Google Shape;670;p21"/>
          <p:cNvSpPr txBox="1"/>
          <p:nvPr>
            <p:ph idx="3" type="subTitle"/>
          </p:nvPr>
        </p:nvSpPr>
        <p:spPr>
          <a:xfrm>
            <a:off x="3402000" y="2018081"/>
            <a:ext cx="23430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/>
              <a:t>Modern DDR memory buses operate at extremely high speeds, generating significant electromagnetic energy that translate to signals.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1"/>
          <p:cNvSpPr txBox="1"/>
          <p:nvPr>
            <p:ph idx="4" type="subTitle"/>
          </p:nvPr>
        </p:nvSpPr>
        <p:spPr>
          <a:xfrm>
            <a:off x="6081000" y="2725900"/>
            <a:ext cx="23430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/>
              <a:t>By effectively "bit-banging" the memory bus with specific software patterns, we can intentionally shape these emissions into a radio signal.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1"/>
          <p:cNvSpPr txBox="1"/>
          <p:nvPr>
            <p:ph idx="5" type="subTitle"/>
          </p:nvPr>
        </p:nvSpPr>
        <p:spPr>
          <a:xfrm>
            <a:off x="3402061" y="1648719"/>
            <a:ext cx="2343000" cy="4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DDR memory</a:t>
            </a:r>
            <a:endParaRPr/>
          </a:p>
        </p:txBody>
      </p:sp>
      <p:sp>
        <p:nvSpPr>
          <p:cNvPr id="673" name="Google Shape;673;p21"/>
          <p:cNvSpPr txBox="1"/>
          <p:nvPr>
            <p:ph idx="6" type="subTitle"/>
          </p:nvPr>
        </p:nvSpPr>
        <p:spPr>
          <a:xfrm>
            <a:off x="6081001" y="2356525"/>
            <a:ext cx="2343000" cy="4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6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Memory as an antenna</a:t>
            </a:r>
            <a:endParaRPr/>
          </a:p>
        </p:txBody>
      </p:sp>
      <p:cxnSp>
        <p:nvCxnSpPr>
          <p:cNvPr id="674" name="Google Shape;674;p21"/>
          <p:cNvCxnSpPr/>
          <p:nvPr/>
        </p:nvCxnSpPr>
        <p:spPr>
          <a:xfrm>
            <a:off x="1893000" y="4095675"/>
            <a:ext cx="0" cy="256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21"/>
          <p:cNvCxnSpPr/>
          <p:nvPr/>
        </p:nvCxnSpPr>
        <p:spPr>
          <a:xfrm>
            <a:off x="4572000" y="3532775"/>
            <a:ext cx="0" cy="256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21"/>
          <p:cNvCxnSpPr/>
          <p:nvPr/>
        </p:nvCxnSpPr>
        <p:spPr>
          <a:xfrm>
            <a:off x="7252500" y="4095675"/>
            <a:ext cx="0" cy="256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4C2F4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2"/>
          <p:cNvSpPr txBox="1"/>
          <p:nvPr>
            <p:ph idx="3" type="subTitle"/>
          </p:nvPr>
        </p:nvSpPr>
        <p:spPr>
          <a:xfrm>
            <a:off x="1671750" y="2018050"/>
            <a:ext cx="4391700" cy="8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The target is a standard air-gapped workstation where our unprivileged malware exploits the physical memory bus to broadcast signals through the noise of legitimate background processes. This attack requires no hardware modifications or special permissions.</a:t>
            </a:r>
            <a:endParaRPr/>
          </a:p>
        </p:txBody>
      </p:sp>
      <p:sp>
        <p:nvSpPr>
          <p:cNvPr id="682" name="Google Shape;682;p22"/>
          <p:cNvSpPr txBox="1"/>
          <p:nvPr>
            <p:ph idx="1" type="subTitle"/>
          </p:nvPr>
        </p:nvSpPr>
        <p:spPr>
          <a:xfrm>
            <a:off x="1671740" y="1678250"/>
            <a:ext cx="4391700" cy="42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Victim Environment</a:t>
            </a:r>
            <a:endParaRPr/>
          </a:p>
        </p:txBody>
      </p:sp>
      <p:sp>
        <p:nvSpPr>
          <p:cNvPr id="683" name="Google Shape;683;p22"/>
          <p:cNvSpPr txBox="1"/>
          <p:nvPr>
            <p:ph idx="2" type="subTitle"/>
          </p:nvPr>
        </p:nvSpPr>
        <p:spPr>
          <a:xfrm>
            <a:off x="3080572" y="3338606"/>
            <a:ext cx="4391700" cy="42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Channel</a:t>
            </a:r>
            <a:endParaRPr/>
          </a:p>
        </p:txBody>
      </p:sp>
      <p:sp>
        <p:nvSpPr>
          <p:cNvPr id="684" name="Google Shape;684;p22"/>
          <p:cNvSpPr txBox="1"/>
          <p:nvPr>
            <p:ph idx="4" type="subTitle"/>
          </p:nvPr>
        </p:nvSpPr>
        <p:spPr>
          <a:xfrm>
            <a:off x="3080570" y="3678400"/>
            <a:ext cx="43917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We bridge the air gap by modulating memory bus emanations to reach a passive receiver about 1 meter away. Because the receiver emits no radio frequency energy, the interception is completely undetectable by standard counter-surveillance measures.</a:t>
            </a:r>
            <a:endParaRPr/>
          </a:p>
        </p:txBody>
      </p:sp>
      <p:sp>
        <p:nvSpPr>
          <p:cNvPr id="685" name="Google Shape;685;p22"/>
          <p:cNvSpPr txBox="1"/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363636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Setup</a:t>
            </a:r>
            <a:endParaRPr/>
          </a:p>
        </p:txBody>
      </p:sp>
      <p:grpSp>
        <p:nvGrpSpPr>
          <p:cNvPr id="686" name="Google Shape;686;p22"/>
          <p:cNvGrpSpPr/>
          <p:nvPr/>
        </p:nvGrpSpPr>
        <p:grpSpPr>
          <a:xfrm rot="10800000">
            <a:off x="6962818" y="-1984916"/>
            <a:ext cx="2638315" cy="4402295"/>
            <a:chOff x="238125" y="1025750"/>
            <a:chExt cx="844450" cy="1409050"/>
          </a:xfrm>
        </p:grpSpPr>
        <p:sp>
          <p:nvSpPr>
            <p:cNvPr id="687" name="Google Shape;687;p22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h="46517" w="2161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2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fill="none" h="46517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2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h="36790" w="218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2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fill="none" h="36790" w="218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2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h="53866" w="3051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2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fill="none" h="53866" w="3051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2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h="54243" w="2161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2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fill="none" h="54243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2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h="56362" w="218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2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fill="none" h="56362" w="218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2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h="16504" w="337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2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fill="none" h="16504" w="337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2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h="40256" w="218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2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fill="none" h="40256" w="218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2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h="29876" w="4795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2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fill="none" h="29876" w="4795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2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h="18306" w="2239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2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fill="none" h="18306" w="2239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2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h="39603" w="4815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2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fill="none" h="39603" w="4815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2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h="44496" w="218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2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fill="none" h="44496" w="218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2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h="46616" w="218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2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fill="none" h="46616" w="218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2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h="26231" w="338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2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fill="none" h="26231" w="338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2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h="36988" w="216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2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fill="none" h="36988" w="216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2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h="46239" w="2161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2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fill="none" h="46239" w="2161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2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h="24388" w="338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2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fill="none" h="24388" w="338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2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h="28033" w="224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2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fill="none" h="28033" w="224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2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h="21397" w="1982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2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fill="none" h="21397" w="1982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2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h="21199" w="337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2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fill="none" h="21199" w="337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2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h="44040" w="3131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2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fill="none" h="44040" w="3131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2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h="53767" w="3111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2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fill="none" h="53767" w="3111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2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h="31124" w="1982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2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fill="none" h="31124" w="1982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2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h="54461" w="7509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2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fill="none" h="54461" w="7509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2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h="55966" w="5171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2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fill="none" h="55966" w="5171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2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h="46794" w="5211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2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fill="none" h="46794" w="5211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37" name="Google Shape;737;p22"/>
          <p:cNvCxnSpPr/>
          <p:nvPr/>
        </p:nvCxnSpPr>
        <p:spPr>
          <a:xfrm rot="10800000">
            <a:off x="3080475" y="3169539"/>
            <a:ext cx="6282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8" name="Google Shape;738;p22"/>
          <p:cNvCxnSpPr/>
          <p:nvPr/>
        </p:nvCxnSpPr>
        <p:spPr>
          <a:xfrm rot="10800000">
            <a:off x="-219160" y="1511150"/>
            <a:ext cx="6282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4C2F4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3" name="Google Shape;743;p23"/>
          <p:cNvGrpSpPr/>
          <p:nvPr/>
        </p:nvGrpSpPr>
        <p:grpSpPr>
          <a:xfrm rot="-5400000">
            <a:off x="6391568" y="-1460960"/>
            <a:ext cx="3689423" cy="3228237"/>
            <a:chOff x="1067625" y="-1658125"/>
            <a:chExt cx="2887550" cy="2526600"/>
          </a:xfrm>
        </p:grpSpPr>
        <p:sp>
          <p:nvSpPr>
            <p:cNvPr id="744" name="Google Shape;744;p23"/>
            <p:cNvSpPr/>
            <p:nvPr/>
          </p:nvSpPr>
          <p:spPr>
            <a:xfrm>
              <a:off x="1067625" y="-1658125"/>
              <a:ext cx="2887550" cy="2526600"/>
            </a:xfrm>
            <a:custGeom>
              <a:rect b="b" l="l" r="r" t="t"/>
              <a:pathLst>
                <a:path extrusionOk="0" h="101064" w="115502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3"/>
            <p:cNvSpPr/>
            <p:nvPr/>
          </p:nvSpPr>
          <p:spPr>
            <a:xfrm>
              <a:off x="1399800" y="-802100"/>
              <a:ext cx="2037900" cy="1095625"/>
            </a:xfrm>
            <a:custGeom>
              <a:rect b="b" l="l" r="r" t="t"/>
              <a:pathLst>
                <a:path extrusionOk="0" fill="none" h="43825" w="81516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3"/>
            <p:cNvSpPr/>
            <p:nvPr/>
          </p:nvSpPr>
          <p:spPr>
            <a:xfrm>
              <a:off x="2354850" y="-1076800"/>
              <a:ext cx="605325" cy="544625"/>
            </a:xfrm>
            <a:custGeom>
              <a:rect b="b" l="l" r="r" t="t"/>
              <a:pathLst>
                <a:path extrusionOk="0" fill="none" h="21785" w="24213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3"/>
            <p:cNvSpPr/>
            <p:nvPr/>
          </p:nvSpPr>
          <p:spPr>
            <a:xfrm>
              <a:off x="1874150" y="-1353075"/>
              <a:ext cx="608500" cy="546225"/>
            </a:xfrm>
            <a:custGeom>
              <a:rect b="b" l="l" r="r" t="t"/>
              <a:pathLst>
                <a:path extrusionOk="0" fill="none" h="21849" w="2434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3"/>
            <p:cNvSpPr/>
            <p:nvPr/>
          </p:nvSpPr>
          <p:spPr>
            <a:xfrm>
              <a:off x="2830800" y="-1353075"/>
              <a:ext cx="606900" cy="546225"/>
            </a:xfrm>
            <a:custGeom>
              <a:rect b="b" l="l" r="r" t="t"/>
              <a:pathLst>
                <a:path extrusionOk="0" fill="none" h="21849" w="24276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3"/>
            <p:cNvSpPr/>
            <p:nvPr/>
          </p:nvSpPr>
          <p:spPr>
            <a:xfrm>
              <a:off x="1067625" y="-1658125"/>
              <a:ext cx="2887550" cy="2526600"/>
            </a:xfrm>
            <a:custGeom>
              <a:rect b="b" l="l" r="r" t="t"/>
              <a:pathLst>
                <a:path extrusionOk="0" fill="none" h="101064" w="115502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0" name="Google Shape;750;p23"/>
          <p:cNvGrpSpPr/>
          <p:nvPr/>
        </p:nvGrpSpPr>
        <p:grpSpPr>
          <a:xfrm flipH="1" rot="10800000">
            <a:off x="-217907" y="-2517541"/>
            <a:ext cx="2638315" cy="4402295"/>
            <a:chOff x="238125" y="1025750"/>
            <a:chExt cx="844450" cy="1409050"/>
          </a:xfrm>
        </p:grpSpPr>
        <p:sp>
          <p:nvSpPr>
            <p:cNvPr id="751" name="Google Shape;751;p23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h="46517" w="2161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3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fill="none" h="46517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3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h="36790" w="218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3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fill="none" h="36790" w="218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3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h="53866" w="3051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3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fill="none" h="53866" w="3051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3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h="54243" w="2161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3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fill="none" h="54243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3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h="56362" w="218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3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fill="none" h="56362" w="218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3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h="16504" w="337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3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fill="none" h="16504" w="337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3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h="40256" w="218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23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fill="none" h="40256" w="218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23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h="29876" w="4795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23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fill="none" h="29876" w="4795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3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h="18306" w="2239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3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fill="none" h="18306" w="2239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3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h="39603" w="4815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3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fill="none" h="39603" w="4815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3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h="44496" w="218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3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fill="none" h="44496" w="218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3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h="46616" w="218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3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fill="none" h="46616" w="218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3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h="26231" w="338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23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fill="none" h="26231" w="338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23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h="36988" w="216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23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fill="none" h="36988" w="216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23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h="46239" w="2161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23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fill="none" h="46239" w="2161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23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h="24388" w="338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23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fill="none" h="24388" w="338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3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h="28033" w="224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23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fill="none" h="28033" w="224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23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h="21397" w="1982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23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fill="none" h="21397" w="1982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23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h="21199" w="337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23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fill="none" h="21199" w="337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23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h="44040" w="3131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23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fill="none" h="44040" w="3131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23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h="53767" w="3111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3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fill="none" h="53767" w="3111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3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h="31124" w="1982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3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fill="none" h="31124" w="1982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3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h="54461" w="7509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3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fill="none" h="54461" w="7509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3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h="55966" w="5171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3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fill="none" h="55966" w="5171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3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h="46794" w="5211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3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fill="none" h="46794" w="5211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1" name="Google Shape;801;p23"/>
          <p:cNvSpPr txBox="1"/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363636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Challenges</a:t>
            </a:r>
            <a:endParaRPr/>
          </a:p>
        </p:txBody>
      </p:sp>
      <p:sp>
        <p:nvSpPr>
          <p:cNvPr id="802" name="Google Shape;802;p23"/>
          <p:cNvSpPr txBox="1"/>
          <p:nvPr>
            <p:ph idx="1" type="subTitle"/>
          </p:nvPr>
        </p:nvSpPr>
        <p:spPr>
          <a:xfrm>
            <a:off x="748300" y="2929825"/>
            <a:ext cx="2343000" cy="4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5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Capturing device noise</a:t>
            </a:r>
            <a:endParaRPr/>
          </a:p>
        </p:txBody>
      </p:sp>
      <p:sp>
        <p:nvSpPr>
          <p:cNvPr id="803" name="Google Shape;803;p23"/>
          <p:cNvSpPr txBox="1"/>
          <p:nvPr>
            <p:ph idx="5" type="subTitle"/>
          </p:nvPr>
        </p:nvSpPr>
        <p:spPr>
          <a:xfrm>
            <a:off x="3401261" y="2259519"/>
            <a:ext cx="2343000" cy="4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Background</a:t>
            </a:r>
            <a:r>
              <a:rPr lang="el"/>
              <a:t> noise</a:t>
            </a:r>
            <a:endParaRPr/>
          </a:p>
        </p:txBody>
      </p:sp>
      <p:sp>
        <p:nvSpPr>
          <p:cNvPr id="804" name="Google Shape;804;p23"/>
          <p:cNvSpPr txBox="1"/>
          <p:nvPr>
            <p:ph idx="6" type="subTitle"/>
          </p:nvPr>
        </p:nvSpPr>
        <p:spPr>
          <a:xfrm>
            <a:off x="6081001" y="2929825"/>
            <a:ext cx="2343000" cy="4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l" sz="1835"/>
              <a:t>Distance</a:t>
            </a:r>
            <a:endParaRPr sz="1835"/>
          </a:p>
        </p:txBody>
      </p:sp>
      <p:cxnSp>
        <p:nvCxnSpPr>
          <p:cNvPr id="805" name="Google Shape;805;p23"/>
          <p:cNvCxnSpPr/>
          <p:nvPr/>
        </p:nvCxnSpPr>
        <p:spPr>
          <a:xfrm>
            <a:off x="1893000" y="4095675"/>
            <a:ext cx="0" cy="256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6" name="Google Shape;806;p23"/>
          <p:cNvCxnSpPr/>
          <p:nvPr/>
        </p:nvCxnSpPr>
        <p:spPr>
          <a:xfrm>
            <a:off x="4572000" y="3532775"/>
            <a:ext cx="0" cy="256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23"/>
          <p:cNvCxnSpPr/>
          <p:nvPr/>
        </p:nvCxnSpPr>
        <p:spPr>
          <a:xfrm>
            <a:off x="7252500" y="4095675"/>
            <a:ext cx="0" cy="256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4C2F4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24"/>
          <p:cNvSpPr txBox="1"/>
          <p:nvPr>
            <p:ph type="title"/>
          </p:nvPr>
        </p:nvSpPr>
        <p:spPr>
          <a:xfrm>
            <a:off x="720000" y="525175"/>
            <a:ext cx="7704000" cy="5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363636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M</a:t>
            </a:r>
            <a:r>
              <a:rPr lang="el">
                <a:solidFill>
                  <a:srgbClr val="363636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odulation</a:t>
            </a:r>
            <a:endParaRPr/>
          </a:p>
        </p:txBody>
      </p:sp>
      <p:pic>
        <p:nvPicPr>
          <p:cNvPr id="813" name="Google Shape;813;p24" title="carb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39025"/>
            <a:ext cx="4752299" cy="3732424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24"/>
          <p:cNvSpPr txBox="1"/>
          <p:nvPr>
            <p:ph idx="4294967295" type="subTitle"/>
          </p:nvPr>
        </p:nvSpPr>
        <p:spPr>
          <a:xfrm>
            <a:off x="4752300" y="1523625"/>
            <a:ext cx="4391700" cy="26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 sz="1200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Modern CPUs effectively silence the memory bus by trapping data in internal </a:t>
            </a:r>
            <a:r>
              <a:rPr b="1" lang="el" sz="1200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caches</a:t>
            </a:r>
            <a:r>
              <a:rPr lang="el" sz="1200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, preventing the generation of detectable electromagnetic signals.</a:t>
            </a:r>
            <a:endParaRPr sz="1200">
              <a:solidFill>
                <a:srgbClr val="36363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 sz="1200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We overcome this by using the </a:t>
            </a:r>
            <a:r>
              <a:rPr lang="el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_mm_stream_si128</a:t>
            </a:r>
            <a:r>
              <a:rPr lang="el" sz="1200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 intrinsic to execute </a:t>
            </a:r>
            <a:r>
              <a:rPr b="1" lang="el" sz="1200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non-temporal</a:t>
            </a:r>
            <a:r>
              <a:rPr lang="el" sz="1200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 stores, which instructs the CPU to bypass the cache hierarchy entirely. </a:t>
            </a:r>
            <a:endParaRPr sz="1200">
              <a:solidFill>
                <a:srgbClr val="36363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 sz="1200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This forces every write operation directly to the </a:t>
            </a:r>
            <a:r>
              <a:rPr b="1" lang="el" sz="1200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physical DRAM</a:t>
            </a:r>
            <a:r>
              <a:rPr lang="el" sz="1200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, generating the distinct electromagnetic spikes necessary for our receiver to detect the transmission.</a:t>
            </a:r>
            <a:endParaRPr sz="1200">
              <a:solidFill>
                <a:srgbClr val="36363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4C2F4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25"/>
          <p:cNvSpPr txBox="1"/>
          <p:nvPr>
            <p:ph type="title"/>
          </p:nvPr>
        </p:nvSpPr>
        <p:spPr>
          <a:xfrm>
            <a:off x="720000" y="525175"/>
            <a:ext cx="7704000" cy="5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363636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Protocol structure</a:t>
            </a:r>
            <a:endParaRPr/>
          </a:p>
        </p:txBody>
      </p:sp>
      <p:sp>
        <p:nvSpPr>
          <p:cNvPr id="820" name="Google Shape;820;p25"/>
          <p:cNvSpPr txBox="1"/>
          <p:nvPr>
            <p:ph idx="4294967295" type="subTitle"/>
          </p:nvPr>
        </p:nvSpPr>
        <p:spPr>
          <a:xfrm>
            <a:off x="4752300" y="1816800"/>
            <a:ext cx="4391700" cy="26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l" sz="1200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Preamble: </a:t>
            </a:r>
            <a:r>
              <a:rPr lang="el" sz="1200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Synchronizes the receiver to the correct bit alignment before the payload begins.</a:t>
            </a:r>
            <a:endParaRPr sz="1200">
              <a:solidFill>
                <a:srgbClr val="36363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 sz="1200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l" sz="1200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Payload: </a:t>
            </a:r>
            <a:r>
              <a:rPr lang="el" sz="1200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Arbitrary binary data transmitted sequentially, bit-by-bit (MSB or LSB first depending on implementation).</a:t>
            </a:r>
            <a:endParaRPr sz="1200">
              <a:solidFill>
                <a:srgbClr val="36363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l" sz="1200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End of Message (EOM): </a:t>
            </a:r>
            <a:r>
              <a:rPr lang="el" sz="1200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Signals the receiver to stop recording and flush the buffer.</a:t>
            </a:r>
            <a:endParaRPr sz="1200">
              <a:solidFill>
                <a:srgbClr val="36363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1" name="Google Shape;821;p25" title="simpleTra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8" y="2281200"/>
            <a:ext cx="3377118" cy="5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4C2F4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6" name="Google Shape;826;p26" title="gnu-rad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7538" y="1341999"/>
            <a:ext cx="5928926" cy="21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26"/>
          <p:cNvSpPr txBox="1"/>
          <p:nvPr>
            <p:ph type="title"/>
          </p:nvPr>
        </p:nvSpPr>
        <p:spPr>
          <a:xfrm>
            <a:off x="720000" y="525175"/>
            <a:ext cx="7704000" cy="5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363636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Demodulation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4C2F4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27"/>
          <p:cNvSpPr txBox="1"/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363636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Experimental</a:t>
            </a:r>
            <a:r>
              <a:rPr lang="el">
                <a:solidFill>
                  <a:srgbClr val="363636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 environment</a:t>
            </a:r>
            <a:endParaRPr/>
          </a:p>
        </p:txBody>
      </p:sp>
      <p:grpSp>
        <p:nvGrpSpPr>
          <p:cNvPr id="833" name="Google Shape;833;p27"/>
          <p:cNvGrpSpPr/>
          <p:nvPr/>
        </p:nvGrpSpPr>
        <p:grpSpPr>
          <a:xfrm rot="10800000">
            <a:off x="6962818" y="-1984916"/>
            <a:ext cx="2638315" cy="4402295"/>
            <a:chOff x="238125" y="1025750"/>
            <a:chExt cx="844450" cy="1409050"/>
          </a:xfrm>
        </p:grpSpPr>
        <p:sp>
          <p:nvSpPr>
            <p:cNvPr id="834" name="Google Shape;834;p27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h="46517" w="2161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7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fill="none" h="46517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7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h="36790" w="218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7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fill="none" h="36790" w="218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7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h="53866" w="3051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7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fill="none" h="53866" w="3051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7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h="54243" w="2161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27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fill="none" h="54243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27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h="56362" w="218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7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fill="none" h="56362" w="218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27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h="16504" w="337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7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fill="none" h="16504" w="337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7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h="40256" w="218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7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fill="none" h="40256" w="218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7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h="29876" w="4795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7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fill="none" h="29876" w="4795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7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h="18306" w="2239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7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fill="none" h="18306" w="2239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7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h="39603" w="4815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7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fill="none" h="39603" w="4815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7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h="44496" w="218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7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fill="none" h="44496" w="218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7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h="46616" w="218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7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fill="none" h="46616" w="218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7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h="26231" w="338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7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fill="none" h="26231" w="338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7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h="36988" w="216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27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fill="none" h="36988" w="216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7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h="46239" w="2161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7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fill="none" h="46239" w="2161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7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h="24388" w="338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7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fill="none" h="24388" w="338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7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h="28033" w="224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7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fill="none" h="28033" w="224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7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h="21397" w="1982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7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fill="none" h="21397" w="1982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7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h="21199" w="337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27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fill="none" h="21199" w="337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27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h="44040" w="3131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27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fill="none" h="44040" w="3131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27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h="53767" w="3111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7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fill="none" h="53767" w="3111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7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h="31124" w="1982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27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fill="none" h="31124" w="1982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27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h="54461" w="7509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7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fill="none" h="54461" w="7509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7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h="55966" w="5171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27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fill="none" h="55966" w="5171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7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h="46794" w="5211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27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fill="none" h="46794" w="5211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84" name="Google Shape;884;p27" title="setu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9425" y="1378074"/>
            <a:ext cx="2188824" cy="2914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27" title="pluto-sdr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9000" y="1378075"/>
            <a:ext cx="2188824" cy="2914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4C2F4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28"/>
          <p:cNvSpPr txBox="1"/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363636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Transfer times for 128-bit key</a:t>
            </a:r>
            <a:endParaRPr>
              <a:solidFill>
                <a:srgbClr val="363636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graphicFrame>
        <p:nvGraphicFramePr>
          <p:cNvPr id="891" name="Google Shape;891;p28"/>
          <p:cNvGraphicFramePr/>
          <p:nvPr/>
        </p:nvGraphicFramePr>
        <p:xfrm>
          <a:off x="720000" y="118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{F7CCF381-3F3A-443E-97EE-4557EEC24869}</a:tableStyleId>
              </a:tblPr>
              <a:tblGrid>
                <a:gridCol w="2500650"/>
                <a:gridCol w="2894500"/>
                <a:gridCol w="1926000"/>
              </a:tblGrid>
              <a:tr h="475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2200">
                          <a:solidFill>
                            <a:schemeClr val="dk1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Bitrate (bps)</a:t>
                      </a:r>
                      <a:endParaRPr sz="2200">
                        <a:solidFill>
                          <a:schemeClr val="dk1"/>
                        </a:solidFill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l" sz="2200">
                          <a:solidFill>
                            <a:schemeClr val="dk1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Duration</a:t>
                      </a:r>
                      <a:endParaRPr sz="2200">
                        <a:solidFill>
                          <a:schemeClr val="dk1"/>
                        </a:solidFill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2200">
                          <a:solidFill>
                            <a:schemeClr val="dk1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Delay</a:t>
                      </a:r>
                      <a:endParaRPr sz="2200">
                        <a:solidFill>
                          <a:schemeClr val="dk1"/>
                        </a:solidFill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75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2200">
                          <a:solidFill>
                            <a:schemeClr val="dk1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4 bps</a:t>
                      </a:r>
                      <a:endParaRPr sz="2200">
                        <a:solidFill>
                          <a:schemeClr val="dk1"/>
                        </a:solidFill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250ms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75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2200">
                          <a:solidFill>
                            <a:schemeClr val="dk1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8</a:t>
                      </a:r>
                      <a:r>
                        <a:rPr lang="el" sz="2200">
                          <a:solidFill>
                            <a:schemeClr val="dk1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 bps</a:t>
                      </a:r>
                      <a:endParaRPr sz="2200">
                        <a:solidFill>
                          <a:schemeClr val="dk1"/>
                        </a:solidFill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125ms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75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2200">
                          <a:solidFill>
                            <a:schemeClr val="dk1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16 bps</a:t>
                      </a:r>
                      <a:endParaRPr sz="2200">
                        <a:solidFill>
                          <a:schemeClr val="dk1"/>
                        </a:solidFill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62.5</a:t>
                      </a: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ms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75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2200">
                          <a:solidFill>
                            <a:schemeClr val="dk1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32 bps</a:t>
                      </a:r>
                      <a:endParaRPr sz="2200">
                        <a:solidFill>
                          <a:schemeClr val="dk1"/>
                        </a:solidFill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31.25</a:t>
                      </a: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ms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75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2200">
                          <a:solidFill>
                            <a:schemeClr val="dk1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64 bps</a:t>
                      </a:r>
                      <a:endParaRPr sz="2200">
                        <a:solidFill>
                          <a:schemeClr val="dk1"/>
                        </a:solidFill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15.625</a:t>
                      </a: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ms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75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2200">
                          <a:solidFill>
                            <a:schemeClr val="dk1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128 bps</a:t>
                      </a:r>
                      <a:endParaRPr sz="2200">
                        <a:solidFill>
                          <a:schemeClr val="dk1"/>
                        </a:solidFill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7.8125</a:t>
                      </a: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ms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4C2F4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29"/>
          <p:cNvSpPr txBox="1"/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363636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Bit Error Rate (BER) %</a:t>
            </a:r>
            <a:endParaRPr>
              <a:solidFill>
                <a:srgbClr val="363636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graphicFrame>
        <p:nvGraphicFramePr>
          <p:cNvPr id="897" name="Google Shape;897;p29"/>
          <p:cNvGraphicFramePr/>
          <p:nvPr/>
        </p:nvGraphicFramePr>
        <p:xfrm>
          <a:off x="720000" y="118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{F7CCF381-3F3A-443E-97EE-4557EEC24869}</a:tableStyleId>
              </a:tblPr>
              <a:tblGrid>
                <a:gridCol w="1837450"/>
                <a:gridCol w="1742250"/>
                <a:gridCol w="2126825"/>
                <a:gridCol w="1799775"/>
              </a:tblGrid>
              <a:tr h="475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2200">
                          <a:solidFill>
                            <a:schemeClr val="dk1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Bitrate (bps)</a:t>
                      </a:r>
                      <a:endParaRPr sz="2200">
                        <a:solidFill>
                          <a:schemeClr val="dk1"/>
                        </a:solidFill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l" sz="2200">
                          <a:solidFill>
                            <a:schemeClr val="dk1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25cm</a:t>
                      </a:r>
                      <a:endParaRPr sz="2200">
                        <a:solidFill>
                          <a:schemeClr val="dk1"/>
                        </a:solidFill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2200">
                          <a:solidFill>
                            <a:schemeClr val="dk1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50cm</a:t>
                      </a:r>
                      <a:endParaRPr sz="2200">
                        <a:solidFill>
                          <a:schemeClr val="dk1"/>
                        </a:solidFill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2200">
                          <a:solidFill>
                            <a:schemeClr val="dk1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100cm</a:t>
                      </a:r>
                      <a:endParaRPr sz="2200">
                        <a:solidFill>
                          <a:schemeClr val="dk1"/>
                        </a:solidFill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75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2200">
                          <a:solidFill>
                            <a:schemeClr val="dk1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4 bps</a:t>
                      </a:r>
                      <a:endParaRPr sz="2200">
                        <a:solidFill>
                          <a:schemeClr val="dk1"/>
                        </a:solidFill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0%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0%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0%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75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2200">
                          <a:solidFill>
                            <a:schemeClr val="dk1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8 bps</a:t>
                      </a:r>
                      <a:endParaRPr sz="2200">
                        <a:solidFill>
                          <a:schemeClr val="dk1"/>
                        </a:solidFill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0%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0%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0%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75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2200">
                          <a:solidFill>
                            <a:schemeClr val="dk1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16 bps</a:t>
                      </a:r>
                      <a:endParaRPr sz="2200">
                        <a:solidFill>
                          <a:schemeClr val="dk1"/>
                        </a:solidFill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0%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0%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0%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75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2200">
                          <a:solidFill>
                            <a:schemeClr val="dk1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32 bps</a:t>
                      </a:r>
                      <a:endParaRPr sz="2200">
                        <a:solidFill>
                          <a:schemeClr val="dk1"/>
                        </a:solidFill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0%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0%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0%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75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2200">
                          <a:solidFill>
                            <a:schemeClr val="dk1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64 bps</a:t>
                      </a:r>
                      <a:endParaRPr sz="2200">
                        <a:solidFill>
                          <a:schemeClr val="dk1"/>
                        </a:solidFill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9.67%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16.4%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29.68%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75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2200">
                          <a:solidFill>
                            <a:schemeClr val="dk1"/>
                          </a:solidFill>
                          <a:latin typeface="Roboto Mono SemiBold"/>
                          <a:ea typeface="Roboto Mono SemiBold"/>
                          <a:cs typeface="Roboto Mono SemiBold"/>
                          <a:sym typeface="Roboto Mono SemiBold"/>
                        </a:rPr>
                        <a:t>128 bps</a:t>
                      </a:r>
                      <a:endParaRPr sz="2200">
                        <a:solidFill>
                          <a:schemeClr val="dk1"/>
                        </a:solidFill>
                        <a:latin typeface="Roboto Mono SemiBold"/>
                        <a:ea typeface="Roboto Mono SemiBold"/>
                        <a:cs typeface="Roboto Mono SemiBold"/>
                        <a:sym typeface="Roboto Mono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51.2%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failed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failed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4C2F4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30"/>
          <p:cNvSpPr txBox="1"/>
          <p:nvPr>
            <p:ph idx="1" type="subTitle"/>
          </p:nvPr>
        </p:nvSpPr>
        <p:spPr>
          <a:xfrm>
            <a:off x="1671740" y="1678250"/>
            <a:ext cx="4391700" cy="42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Proof of concept</a:t>
            </a:r>
            <a:endParaRPr/>
          </a:p>
        </p:txBody>
      </p:sp>
      <p:sp>
        <p:nvSpPr>
          <p:cNvPr id="903" name="Google Shape;903;p30"/>
          <p:cNvSpPr txBox="1"/>
          <p:nvPr>
            <p:ph idx="2" type="subTitle"/>
          </p:nvPr>
        </p:nvSpPr>
        <p:spPr>
          <a:xfrm>
            <a:off x="3080572" y="3338606"/>
            <a:ext cx="4391700" cy="42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Improvements</a:t>
            </a:r>
            <a:endParaRPr/>
          </a:p>
        </p:txBody>
      </p:sp>
      <p:sp>
        <p:nvSpPr>
          <p:cNvPr id="904" name="Google Shape;904;p30"/>
          <p:cNvSpPr txBox="1"/>
          <p:nvPr>
            <p:ph idx="4" type="subTitle"/>
          </p:nvPr>
        </p:nvSpPr>
        <p:spPr>
          <a:xfrm>
            <a:off x="3080570" y="3678400"/>
            <a:ext cx="43917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To improve protocol robustness, we propose using a fixed-length header, ensuring that payloads containing the termination byte do not stop the transmission. Furthermore, we recommend implementing error correction methods to achieve better accuracy.</a:t>
            </a:r>
            <a:endParaRPr/>
          </a:p>
        </p:txBody>
      </p:sp>
      <p:sp>
        <p:nvSpPr>
          <p:cNvPr id="905" name="Google Shape;905;p30"/>
          <p:cNvSpPr txBox="1"/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363636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Conclusion and Future work</a:t>
            </a:r>
            <a:endParaRPr/>
          </a:p>
        </p:txBody>
      </p:sp>
      <p:grpSp>
        <p:nvGrpSpPr>
          <p:cNvPr id="906" name="Google Shape;906;p30"/>
          <p:cNvGrpSpPr/>
          <p:nvPr/>
        </p:nvGrpSpPr>
        <p:grpSpPr>
          <a:xfrm rot="10800000">
            <a:off x="6962818" y="-1984916"/>
            <a:ext cx="2638315" cy="4402295"/>
            <a:chOff x="238125" y="1025750"/>
            <a:chExt cx="844450" cy="1409050"/>
          </a:xfrm>
        </p:grpSpPr>
        <p:sp>
          <p:nvSpPr>
            <p:cNvPr id="907" name="Google Shape;907;p30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h="46517" w="2161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0"/>
            <p:cNvSpPr/>
            <p:nvPr/>
          </p:nvSpPr>
          <p:spPr>
            <a:xfrm>
              <a:off x="1028550" y="1271875"/>
              <a:ext cx="54025" cy="1162925"/>
            </a:xfrm>
            <a:custGeom>
              <a:rect b="b" l="l" r="r" t="t"/>
              <a:pathLst>
                <a:path extrusionOk="0" fill="none" h="46517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0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h="36790" w="218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0"/>
            <p:cNvSpPr/>
            <p:nvPr/>
          </p:nvSpPr>
          <p:spPr>
            <a:xfrm>
              <a:off x="333700" y="1515050"/>
              <a:ext cx="54500" cy="919750"/>
            </a:xfrm>
            <a:custGeom>
              <a:rect b="b" l="l" r="r" t="t"/>
              <a:pathLst>
                <a:path extrusionOk="0" fill="none" h="36790" w="218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0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h="53866" w="3051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0"/>
            <p:cNvSpPr/>
            <p:nvPr/>
          </p:nvSpPr>
          <p:spPr>
            <a:xfrm>
              <a:off x="238125" y="1088150"/>
              <a:ext cx="76275" cy="1346650"/>
            </a:xfrm>
            <a:custGeom>
              <a:rect b="b" l="l" r="r" t="t"/>
              <a:pathLst>
                <a:path extrusionOk="0" fill="none" h="53866" w="3051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0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h="54243" w="2161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0"/>
            <p:cNvSpPr/>
            <p:nvPr/>
          </p:nvSpPr>
          <p:spPr>
            <a:xfrm>
              <a:off x="979525" y="1078725"/>
              <a:ext cx="54025" cy="1356075"/>
            </a:xfrm>
            <a:custGeom>
              <a:rect b="b" l="l" r="r" t="t"/>
              <a:pathLst>
                <a:path extrusionOk="0" fill="none" h="54243" w="2161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0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h="56362" w="218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0"/>
            <p:cNvSpPr/>
            <p:nvPr/>
          </p:nvSpPr>
          <p:spPr>
            <a:xfrm>
              <a:off x="1003800" y="1025750"/>
              <a:ext cx="54500" cy="1409050"/>
            </a:xfrm>
            <a:custGeom>
              <a:rect b="b" l="l" r="r" t="t"/>
              <a:pathLst>
                <a:path extrusionOk="0" fill="none" h="56362" w="218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0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h="16504" w="337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0"/>
            <p:cNvSpPr/>
            <p:nvPr/>
          </p:nvSpPr>
          <p:spPr>
            <a:xfrm>
              <a:off x="428800" y="2022200"/>
              <a:ext cx="8425" cy="412600"/>
            </a:xfrm>
            <a:custGeom>
              <a:rect b="b" l="l" r="r" t="t"/>
              <a:pathLst>
                <a:path extrusionOk="0" fill="none" h="16504" w="337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0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h="40256" w="218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0"/>
            <p:cNvSpPr/>
            <p:nvPr/>
          </p:nvSpPr>
          <p:spPr>
            <a:xfrm>
              <a:off x="309425" y="1428400"/>
              <a:ext cx="54500" cy="1006400"/>
            </a:xfrm>
            <a:custGeom>
              <a:rect b="b" l="l" r="r" t="t"/>
              <a:pathLst>
                <a:path extrusionOk="0" fill="none" h="40256" w="218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0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h="29876" w="4795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0"/>
            <p:cNvSpPr/>
            <p:nvPr/>
          </p:nvSpPr>
          <p:spPr>
            <a:xfrm>
              <a:off x="404525" y="1687900"/>
              <a:ext cx="119875" cy="746900"/>
            </a:xfrm>
            <a:custGeom>
              <a:rect b="b" l="l" r="r" t="t"/>
              <a:pathLst>
                <a:path extrusionOk="0" fill="none" h="29876" w="4795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0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h="18306" w="2239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0"/>
            <p:cNvSpPr/>
            <p:nvPr/>
          </p:nvSpPr>
          <p:spPr>
            <a:xfrm>
              <a:off x="434250" y="1977150"/>
              <a:ext cx="55975" cy="457650"/>
            </a:xfrm>
            <a:custGeom>
              <a:rect b="b" l="l" r="r" t="t"/>
              <a:pathLst>
                <a:path extrusionOk="0" fill="none" h="18306" w="2239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0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h="39603" w="4815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0"/>
            <p:cNvSpPr/>
            <p:nvPr/>
          </p:nvSpPr>
          <p:spPr>
            <a:xfrm>
              <a:off x="891875" y="1444725"/>
              <a:ext cx="120375" cy="990075"/>
            </a:xfrm>
            <a:custGeom>
              <a:rect b="b" l="l" r="r" t="t"/>
              <a:pathLst>
                <a:path extrusionOk="0" fill="none" h="39603" w="4815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0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h="44496" w="218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0"/>
            <p:cNvSpPr/>
            <p:nvPr/>
          </p:nvSpPr>
          <p:spPr>
            <a:xfrm>
              <a:off x="382725" y="1322400"/>
              <a:ext cx="54500" cy="1112400"/>
            </a:xfrm>
            <a:custGeom>
              <a:rect b="b" l="l" r="r" t="t"/>
              <a:pathLst>
                <a:path extrusionOk="0" fill="none" h="44496" w="218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30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h="46616" w="218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0"/>
            <p:cNvSpPr/>
            <p:nvPr/>
          </p:nvSpPr>
          <p:spPr>
            <a:xfrm>
              <a:off x="358475" y="1269400"/>
              <a:ext cx="54500" cy="1165400"/>
            </a:xfrm>
            <a:custGeom>
              <a:rect b="b" l="l" r="r" t="t"/>
              <a:pathLst>
                <a:path extrusionOk="0" fill="none" h="46616" w="218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0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h="26231" w="338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0"/>
            <p:cNvSpPr/>
            <p:nvPr/>
          </p:nvSpPr>
          <p:spPr>
            <a:xfrm>
              <a:off x="979525" y="1779025"/>
              <a:ext cx="8450" cy="655775"/>
            </a:xfrm>
            <a:custGeom>
              <a:rect b="b" l="l" r="r" t="t"/>
              <a:pathLst>
                <a:path extrusionOk="0" fill="none" h="26231" w="338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0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h="36988" w="216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0"/>
            <p:cNvSpPr/>
            <p:nvPr/>
          </p:nvSpPr>
          <p:spPr>
            <a:xfrm>
              <a:off x="538750" y="1510100"/>
              <a:ext cx="54000" cy="924700"/>
            </a:xfrm>
            <a:custGeom>
              <a:rect b="b" l="l" r="r" t="t"/>
              <a:pathLst>
                <a:path extrusionOk="0" fill="none" h="36988" w="216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0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h="46239" w="2161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0"/>
            <p:cNvSpPr/>
            <p:nvPr/>
          </p:nvSpPr>
          <p:spPr>
            <a:xfrm>
              <a:off x="516450" y="1278825"/>
              <a:ext cx="54025" cy="1155975"/>
            </a:xfrm>
            <a:custGeom>
              <a:rect b="b" l="l" r="r" t="t"/>
              <a:pathLst>
                <a:path extrusionOk="0" fill="none" h="46239" w="2161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0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h="24388" w="338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30"/>
            <p:cNvSpPr/>
            <p:nvPr/>
          </p:nvSpPr>
          <p:spPr>
            <a:xfrm>
              <a:off x="611550" y="1825100"/>
              <a:ext cx="8450" cy="609700"/>
            </a:xfrm>
            <a:custGeom>
              <a:rect b="b" l="l" r="r" t="t"/>
              <a:pathLst>
                <a:path extrusionOk="0" fill="none" h="24388" w="338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30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h="28033" w="224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30"/>
            <p:cNvSpPr/>
            <p:nvPr/>
          </p:nvSpPr>
          <p:spPr>
            <a:xfrm>
              <a:off x="926525" y="1733975"/>
              <a:ext cx="56000" cy="700825"/>
            </a:xfrm>
            <a:custGeom>
              <a:rect b="b" l="l" r="r" t="t"/>
              <a:pathLst>
                <a:path extrusionOk="0" fill="none" h="28033" w="224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0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h="21397" w="1982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0"/>
            <p:cNvSpPr/>
            <p:nvPr/>
          </p:nvSpPr>
          <p:spPr>
            <a:xfrm>
              <a:off x="472875" y="1899875"/>
              <a:ext cx="49550" cy="534925"/>
            </a:xfrm>
            <a:custGeom>
              <a:rect b="b" l="l" r="r" t="t"/>
              <a:pathLst>
                <a:path extrusionOk="0" fill="none" h="21397" w="1982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0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h="21199" w="337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0"/>
            <p:cNvSpPr/>
            <p:nvPr/>
          </p:nvSpPr>
          <p:spPr>
            <a:xfrm>
              <a:off x="635825" y="1904825"/>
              <a:ext cx="8425" cy="529975"/>
            </a:xfrm>
            <a:custGeom>
              <a:rect b="b" l="l" r="r" t="t"/>
              <a:pathLst>
                <a:path extrusionOk="0" fill="none" h="21199" w="337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30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h="44040" w="3131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30"/>
            <p:cNvSpPr/>
            <p:nvPr/>
          </p:nvSpPr>
          <p:spPr>
            <a:xfrm>
              <a:off x="469900" y="1333800"/>
              <a:ext cx="78275" cy="1101000"/>
            </a:xfrm>
            <a:custGeom>
              <a:rect b="b" l="l" r="r" t="t"/>
              <a:pathLst>
                <a:path extrusionOk="0" fill="none" h="44040" w="3131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30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h="53767" w="3111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30"/>
            <p:cNvSpPr/>
            <p:nvPr/>
          </p:nvSpPr>
          <p:spPr>
            <a:xfrm>
              <a:off x="868600" y="1090625"/>
              <a:ext cx="77775" cy="1344175"/>
            </a:xfrm>
            <a:custGeom>
              <a:rect b="b" l="l" r="r" t="t"/>
              <a:pathLst>
                <a:path extrusionOk="0" fill="none" h="53767" w="3111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0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h="31124" w="1982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30"/>
            <p:cNvSpPr/>
            <p:nvPr/>
          </p:nvSpPr>
          <p:spPr>
            <a:xfrm>
              <a:off x="894350" y="1656700"/>
              <a:ext cx="49550" cy="778100"/>
            </a:xfrm>
            <a:custGeom>
              <a:rect b="b" l="l" r="r" t="t"/>
              <a:pathLst>
                <a:path extrusionOk="0" fill="none" h="31124" w="1982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30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h="54461" w="7509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30"/>
            <p:cNvSpPr/>
            <p:nvPr/>
          </p:nvSpPr>
          <p:spPr>
            <a:xfrm>
              <a:off x="614525" y="1073275"/>
              <a:ext cx="187725" cy="1361525"/>
            </a:xfrm>
            <a:custGeom>
              <a:rect b="b" l="l" r="r" t="t"/>
              <a:pathLst>
                <a:path extrusionOk="0" fill="none" h="54461" w="7509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30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h="55966" w="5171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30"/>
            <p:cNvSpPr/>
            <p:nvPr/>
          </p:nvSpPr>
          <p:spPr>
            <a:xfrm>
              <a:off x="771025" y="1035650"/>
              <a:ext cx="129275" cy="1399150"/>
            </a:xfrm>
            <a:custGeom>
              <a:rect b="b" l="l" r="r" t="t"/>
              <a:pathLst>
                <a:path extrusionOk="0" fill="none" h="55966" w="5171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30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h="46794" w="5211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30"/>
            <p:cNvSpPr/>
            <p:nvPr/>
          </p:nvSpPr>
          <p:spPr>
            <a:xfrm>
              <a:off x="747750" y="1264950"/>
              <a:ext cx="130275" cy="1169850"/>
            </a:xfrm>
            <a:custGeom>
              <a:rect b="b" l="l" r="r" t="t"/>
              <a:pathLst>
                <a:path extrusionOk="0" fill="none" h="46794" w="5211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57" name="Google Shape;957;p30"/>
          <p:cNvCxnSpPr/>
          <p:nvPr/>
        </p:nvCxnSpPr>
        <p:spPr>
          <a:xfrm rot="10800000">
            <a:off x="3080475" y="3169539"/>
            <a:ext cx="6282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8" name="Google Shape;958;p30"/>
          <p:cNvCxnSpPr/>
          <p:nvPr/>
        </p:nvCxnSpPr>
        <p:spPr>
          <a:xfrm rot="10800000">
            <a:off x="-219160" y="1511150"/>
            <a:ext cx="6282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9" name="Google Shape;959;p30"/>
          <p:cNvSpPr txBox="1"/>
          <p:nvPr>
            <p:ph idx="3" type="subTitle"/>
          </p:nvPr>
        </p:nvSpPr>
        <p:spPr>
          <a:xfrm>
            <a:off x="1671750" y="2018050"/>
            <a:ext cx="4391700" cy="8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Our results validate that physical isolation is not a guarantee of security. The physical layer  remains a viable attack vector even when the network layer is removed.</a:t>
            </a:r>
            <a:endParaRPr>
              <a:solidFill>
                <a:srgbClr val="36363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4C2F4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31"/>
          <p:cNvSpPr txBox="1"/>
          <p:nvPr>
            <p:ph type="ctrTitle"/>
          </p:nvPr>
        </p:nvSpPr>
        <p:spPr>
          <a:xfrm>
            <a:off x="934675" y="600338"/>
            <a:ext cx="6815700" cy="238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Roboto Mono SemiBold"/>
                <a:ea typeface="Roboto Mono SemiBold"/>
                <a:cs typeface="Roboto Mono SemiBold"/>
                <a:sym typeface="Roboto Mono SemiBold"/>
              </a:rPr>
              <a:t>Thank you!</a:t>
            </a:r>
            <a:endParaRPr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cxnSp>
        <p:nvCxnSpPr>
          <p:cNvPr id="965" name="Google Shape;965;p31"/>
          <p:cNvCxnSpPr/>
          <p:nvPr/>
        </p:nvCxnSpPr>
        <p:spPr>
          <a:xfrm rot="10800000">
            <a:off x="-62475" y="3027463"/>
            <a:ext cx="2389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6" name="Google Shape;966;p31"/>
          <p:cNvSpPr txBox="1"/>
          <p:nvPr>
            <p:ph idx="4294967295" type="subTitle"/>
          </p:nvPr>
        </p:nvSpPr>
        <p:spPr>
          <a:xfrm>
            <a:off x="6371800" y="4030500"/>
            <a:ext cx="2455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l"/>
              <a:t>Nikas Ioannis Iason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l"/>
              <a:t>Tsiantos Dimitrios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Tsogkas Panagiotis Nikolaos</a:t>
            </a:r>
            <a:endParaRPr/>
          </a:p>
        </p:txBody>
      </p:sp>
      <p:pic>
        <p:nvPicPr>
          <p:cNvPr id="967" name="Google Shape;967;p31" title="UTH_greek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974" y="3896800"/>
            <a:ext cx="926300" cy="92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